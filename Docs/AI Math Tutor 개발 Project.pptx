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8" r:id="rId34"/>
    <p:sldId id="284" r:id="rId35"/>
    <p:sldId id="287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09BDED3-E71E-4D22-B379-AF0FCE403C3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895150-B6E3-49D5-9C4B-D2440CABE70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9760FC6-CCCF-453E-B0FC-62B3A291A8B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AA01D9E-38C7-4BD7-90FF-6A042DB890C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C9847AF-5E6C-45F5-8D53-10FF8211E5E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3929119-EA1D-4A9C-8DED-0BCB264748E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B7EF10D-8A01-4C85-B14A-FE4909B735A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D9DD1F-6A1F-45AF-BE10-D3D5E2858BE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6E46F3B-8368-4B07-92E1-7B92DF580A2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DB28582-B252-4EAF-B8A7-D6DE78593AF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F1EB17-6AD6-4F69-B1AC-B392C3ACF0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F8DAAC-7290-4995-9074-4CD58B78B5D0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C83793-02DA-4834-A97A-50CC68337CA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8C60AC4-51C0-4C78-AE43-F75446BD011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BBB5260-B63E-4DDE-8316-5A3AA4487B5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CC86C29-1A6B-48A0-8BB9-1CE29DFCD46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FD74420-AAED-4BB4-ADEB-CF0437C1343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D295FA8-DEDF-41C3-8C0C-C7E6EB98848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41BBBEE-0274-45F4-89CC-D428C4FC10F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F321EB2-3B27-477D-A9A5-DB061B73FF8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91EC8F5-8DE7-44B8-B314-75A7747D0B5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29476B-20E6-4A7C-8EA6-D7703AAB057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3272071-3448-42CC-B4EA-2ADC87D14FE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370454E-158A-4D02-864D-AB992A6AEB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BA01A81-8158-45F6-9D57-224A5FDA795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FE14F5B-7C9B-490A-A03F-6D87E0DF5A1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AAAC9C9-30CE-4F60-AB83-63B08074D4E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CB09B7C-8252-411B-BFA9-09FE28DED05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40A12AB-2BBA-4B11-98A1-336B51D304A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AE14FC37-FC02-4D22-8D66-39CBAFA5E1D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C29DF14-15C8-4388-9C31-C7A35F975B6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AE8600E-5BA3-4C8F-8204-4DA6188E834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29E6EF4-93AD-43C6-8174-708AFDDB10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F41B6B2-0892-44FF-973B-7F0EB8EA8D8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043A326-0558-4E2C-9B98-2C24BD347FE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EAC4EE4-31D9-435D-AB8B-B120AC4C906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/>
          <p:cNvGrpSpPr/>
          <p:nvPr/>
        </p:nvGrpSpPr>
        <p:grpSpPr>
          <a:xfrm>
            <a:off x="0" y="-8640"/>
            <a:ext cx="12188520" cy="6866640"/>
            <a:chOff x="0" y="-8640"/>
            <a:chExt cx="12188520" cy="6866640"/>
          </a:xfrm>
        </p:grpSpPr>
        <p:sp>
          <p:nvSpPr>
            <p:cNvPr id="28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525" cap="rnd">
              <a:solidFill>
                <a:srgbClr val="BFBFB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525" cap="rnd">
              <a:solidFill>
                <a:srgbClr val="D9D9D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" name="Rectangle 23"/>
            <p:cNvSpPr/>
            <p:nvPr/>
          </p:nvSpPr>
          <p:spPr>
            <a:xfrm>
              <a:off x="9181440" y="-8640"/>
              <a:ext cx="2999520" cy="685872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0480" cy="685872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1880" cy="38019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46520" cy="685872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2320" cy="685872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2000" cy="685872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09360" cy="3260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0640" cy="2836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7920" y="-8640"/>
            <a:ext cx="12180600" cy="6866640"/>
            <a:chOff x="7920" y="-8640"/>
            <a:chExt cx="12180600" cy="6866640"/>
          </a:xfrm>
        </p:grpSpPr>
        <p:sp>
          <p:nvSpPr>
            <p:cNvPr id="12" name="Straight Connector 31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525" cap="rnd">
              <a:solidFill>
                <a:srgbClr val="BFBFB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525" cap="rnd">
              <a:solidFill>
                <a:srgbClr val="D9D9D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Rectangle 23"/>
            <p:cNvSpPr/>
            <p:nvPr/>
          </p:nvSpPr>
          <p:spPr>
            <a:xfrm>
              <a:off x="9181440" y="-8640"/>
              <a:ext cx="2999520" cy="685872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0480" cy="685872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1880" cy="38019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46520" cy="685872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2320" cy="685872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2000" cy="685872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09360" cy="3260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7920" y="7920"/>
              <a:ext cx="834840" cy="56581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895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Noto Serif CJK KR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Noto Serif CJK KR"/>
              </a:rPr>
              <a:t>&lt;바닥글&gt;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753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DDDDDD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6F5598-A49D-47CD-B216-1D8576CA9581}" type="slidenum">
              <a:rPr lang="en-US" sz="900" b="0" strike="noStrike" spc="-1">
                <a:solidFill>
                  <a:srgbClr val="DDDDDD"/>
                </a:solidFill>
                <a:latin typeface="Trebuchet MS"/>
              </a:rPr>
              <a:t>‹#›</a:t>
            </a:fld>
            <a:endParaRPr lang="en-US" sz="900" b="0" strike="noStrike" spc="-1">
              <a:latin typeface="Noto Serif CJK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039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Noto Serif CJK KR"/>
              </a:defRPr>
            </a:lvl1pPr>
          </a:lstStyle>
          <a:p>
            <a:r>
              <a:rPr lang="en-US" sz="1400" b="0" strike="noStrike" spc="-1">
                <a:latin typeface="Noto Serif CJK KR"/>
              </a:rPr>
              <a:t>&lt;날짜/시간&gt;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"/>
          <p:cNvGrpSpPr/>
          <p:nvPr/>
        </p:nvGrpSpPr>
        <p:grpSpPr>
          <a:xfrm>
            <a:off x="0" y="-8640"/>
            <a:ext cx="12188520" cy="6866640"/>
            <a:chOff x="0" y="-8640"/>
            <a:chExt cx="12188520" cy="6866640"/>
          </a:xfrm>
        </p:grpSpPr>
        <p:sp>
          <p:nvSpPr>
            <p:cNvPr id="64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525" cap="rnd">
              <a:solidFill>
                <a:srgbClr val="BFBFB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5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525" cap="rnd">
              <a:solidFill>
                <a:srgbClr val="D9D9D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6" name="Rectangle 23"/>
            <p:cNvSpPr/>
            <p:nvPr/>
          </p:nvSpPr>
          <p:spPr>
            <a:xfrm>
              <a:off x="9181440" y="-8640"/>
              <a:ext cx="2999520" cy="685872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7" name="Rectangle 25"/>
            <p:cNvSpPr/>
            <p:nvPr/>
          </p:nvSpPr>
          <p:spPr>
            <a:xfrm>
              <a:off x="9603360" y="-8640"/>
              <a:ext cx="2580480" cy="685872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8" name="Isosceles Triangle 23"/>
            <p:cNvSpPr/>
            <p:nvPr/>
          </p:nvSpPr>
          <p:spPr>
            <a:xfrm>
              <a:off x="8932320" y="3048120"/>
              <a:ext cx="3251880" cy="38019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69" name="Rectangle 27"/>
            <p:cNvSpPr/>
            <p:nvPr/>
          </p:nvSpPr>
          <p:spPr>
            <a:xfrm>
              <a:off x="9334440" y="-8640"/>
              <a:ext cx="2846520" cy="685872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70" name="Rectangle 28"/>
            <p:cNvSpPr/>
            <p:nvPr/>
          </p:nvSpPr>
          <p:spPr>
            <a:xfrm>
              <a:off x="10898640" y="-8640"/>
              <a:ext cx="1282320" cy="685872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71" name="Rectangle 29"/>
            <p:cNvSpPr/>
            <p:nvPr/>
          </p:nvSpPr>
          <p:spPr>
            <a:xfrm>
              <a:off x="10938960" y="-8640"/>
              <a:ext cx="1242000" cy="685872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72" name="Isosceles Triangle 27"/>
            <p:cNvSpPr/>
            <p:nvPr/>
          </p:nvSpPr>
          <p:spPr>
            <a:xfrm>
              <a:off x="10371600" y="3589920"/>
              <a:ext cx="1809360" cy="3260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73" name="Isosceles Triangle 28"/>
            <p:cNvSpPr/>
            <p:nvPr/>
          </p:nvSpPr>
          <p:spPr>
            <a:xfrm>
              <a:off x="0" y="4013280"/>
              <a:ext cx="440640" cy="2836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895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Noto Serif CJK KR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Noto Serif CJK KR"/>
              </a:rPr>
              <a:t>&lt;바닥글&gt;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753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DDDDDD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4E7A0A-8222-424E-B796-BB1AA5AD6BFB}" type="slidenum">
              <a:rPr lang="en-US" sz="900" b="0" strike="noStrike" spc="-1">
                <a:solidFill>
                  <a:srgbClr val="DDDDDD"/>
                </a:solidFill>
                <a:latin typeface="Trebuchet MS"/>
              </a:rPr>
              <a:t>‹#›</a:t>
            </a:fld>
            <a:endParaRPr lang="en-US" sz="900" b="0" strike="noStrike" spc="-1">
              <a:latin typeface="Noto Serif CJK KR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039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Noto Serif CJK KR"/>
              </a:defRPr>
            </a:lvl1pPr>
          </a:lstStyle>
          <a:p>
            <a:r>
              <a:rPr lang="en-US" sz="1400" b="0" strike="noStrike" spc="-1">
                <a:latin typeface="Noto Serif CJK KR"/>
              </a:rPr>
              <a:t>&lt;날짜/시간&gt;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88520" cy="6866640"/>
            <a:chOff x="0" y="-8640"/>
            <a:chExt cx="12188520" cy="6866640"/>
          </a:xfrm>
        </p:grpSpPr>
        <p:sp>
          <p:nvSpPr>
            <p:cNvPr id="116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525" cap="rnd">
              <a:solidFill>
                <a:srgbClr val="BFBFB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17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525" cap="rnd">
              <a:solidFill>
                <a:srgbClr val="D9D9D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18" name="Rectangle 23"/>
            <p:cNvSpPr/>
            <p:nvPr/>
          </p:nvSpPr>
          <p:spPr>
            <a:xfrm>
              <a:off x="9181440" y="-8640"/>
              <a:ext cx="2999520" cy="685872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0480" cy="685872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1880" cy="38019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46520" cy="685872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2320" cy="685872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2000" cy="685872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09360" cy="3260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0640" cy="2836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6" name="Group 6"/>
          <p:cNvGrpSpPr/>
          <p:nvPr/>
        </p:nvGrpSpPr>
        <p:grpSpPr>
          <a:xfrm>
            <a:off x="7920" y="-8640"/>
            <a:ext cx="12180600" cy="6866640"/>
            <a:chOff x="7920" y="-8640"/>
            <a:chExt cx="12180600" cy="6866640"/>
          </a:xfrm>
        </p:grpSpPr>
        <p:sp>
          <p:nvSpPr>
            <p:cNvPr id="127" name="Straight Connector 31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525" cap="rnd">
              <a:solidFill>
                <a:srgbClr val="BFBFB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8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525" cap="rnd">
              <a:solidFill>
                <a:srgbClr val="D9D9D9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9" name="Rectangle 23"/>
            <p:cNvSpPr/>
            <p:nvPr/>
          </p:nvSpPr>
          <p:spPr>
            <a:xfrm>
              <a:off x="9181440" y="-8640"/>
              <a:ext cx="2999520" cy="685872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0" name="Rectangle 25"/>
            <p:cNvSpPr/>
            <p:nvPr/>
          </p:nvSpPr>
          <p:spPr>
            <a:xfrm>
              <a:off x="9603360" y="-8640"/>
              <a:ext cx="2580480" cy="685872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1" name="Isosceles Triangle 26"/>
            <p:cNvSpPr/>
            <p:nvPr/>
          </p:nvSpPr>
          <p:spPr>
            <a:xfrm>
              <a:off x="8932320" y="3048120"/>
              <a:ext cx="3251880" cy="38019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2" name="Rectangle 27"/>
            <p:cNvSpPr/>
            <p:nvPr/>
          </p:nvSpPr>
          <p:spPr>
            <a:xfrm>
              <a:off x="9334440" y="-8640"/>
              <a:ext cx="2846520" cy="685872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3" name="Rectangle 28"/>
            <p:cNvSpPr/>
            <p:nvPr/>
          </p:nvSpPr>
          <p:spPr>
            <a:xfrm>
              <a:off x="10898640" y="-8640"/>
              <a:ext cx="1282320" cy="685872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4" name="Rectangle 29"/>
            <p:cNvSpPr/>
            <p:nvPr/>
          </p:nvSpPr>
          <p:spPr>
            <a:xfrm>
              <a:off x="10938960" y="-8640"/>
              <a:ext cx="1242000" cy="685872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5" name="Isosceles Triangle 30"/>
            <p:cNvSpPr/>
            <p:nvPr/>
          </p:nvSpPr>
          <p:spPr>
            <a:xfrm>
              <a:off x="10371600" y="3589920"/>
              <a:ext cx="1809360" cy="32601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6" name="Isosceles Triangle 18"/>
            <p:cNvSpPr/>
            <p:nvPr/>
          </p:nvSpPr>
          <p:spPr>
            <a:xfrm rot="10800000">
              <a:off x="7920" y="7920"/>
              <a:ext cx="834840" cy="56581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895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Noto Serif CJK KR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Noto Serif CJK KR"/>
              </a:rPr>
              <a:t>&lt;바닥글&gt;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753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900" b="0" strike="noStrike" spc="-1">
                <a:solidFill>
                  <a:srgbClr val="DDDDDD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EF75F0-2A81-42A8-AA7B-D2903A6D7020}" type="slidenum">
              <a:rPr lang="en-US" sz="900" b="0" strike="noStrike" spc="-1">
                <a:solidFill>
                  <a:srgbClr val="DDDDDD"/>
                </a:solidFill>
                <a:latin typeface="Trebuchet MS"/>
              </a:rPr>
              <a:t>‹#›</a:t>
            </a:fld>
            <a:endParaRPr lang="en-US" sz="900" b="0" strike="noStrike" spc="-1">
              <a:latin typeface="Noto Serif CJK KR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03960" cy="357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Noto Serif CJK KR"/>
              </a:defRPr>
            </a:lvl1pPr>
          </a:lstStyle>
          <a:p>
            <a:r>
              <a:rPr lang="en-US" sz="1400" b="0" strike="noStrike" spc="-1">
                <a:latin typeface="Noto Serif CJK KR"/>
              </a:rPr>
              <a:t>&lt;날짜/시간&gt;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6.png"/><Relationship Id="rId7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file:///E:\preview.mp4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media" Target="../media/media1.wav"/><Relationship Id="rId2" Type="http://schemas.openxmlformats.org/officeDocument/2006/relationships/audio" Target="file:///C:\Users\&#50980;&#51333;&#48124;\Desktop\AI_mathtutor\gtts.mp3" TargetMode="External"/><Relationship Id="rId1" Type="http://schemas.microsoft.com/office/2007/relationships/media" Target="file:///C:\Users\&#50980;&#51333;&#48124;\Desktop\AI_mathtutor\gtts.mp3" TargetMode="External"/><Relationship Id="rId6" Type="http://schemas.openxmlformats.org/officeDocument/2006/relationships/image" Target="../media/image79.png"/><Relationship Id="rId5" Type="http://schemas.openxmlformats.org/officeDocument/2006/relationships/slideLayout" Target="../slideLayouts/slideLayout13.xml"/><Relationship Id="rId4" Type="http://schemas.openxmlformats.org/officeDocument/2006/relationships/audio" Target="../media/media1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440000" y="2112840"/>
            <a:ext cx="9136080" cy="94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800" b="1" strike="noStrike" spc="-1">
                <a:solidFill>
                  <a:srgbClr val="000000"/>
                </a:solidFill>
                <a:latin typeface="Trebuchet MS"/>
              </a:rPr>
              <a:t>AI Math Tutor </a:t>
            </a:r>
            <a:r>
              <a:rPr lang="ko-KR" sz="4800" b="1" strike="noStrike" spc="-1">
                <a:solidFill>
                  <a:srgbClr val="000000"/>
                </a:solidFill>
                <a:latin typeface="Trebuchet MS"/>
              </a:rPr>
              <a:t>개발 </a:t>
            </a:r>
            <a:r>
              <a:rPr lang="en-US" sz="4800" b="1" strike="noStrike" spc="-1">
                <a:solidFill>
                  <a:srgbClr val="000000"/>
                </a:solidFill>
                <a:latin typeface="Trebuchet MS"/>
              </a:rPr>
              <a:t>Project</a:t>
            </a:r>
            <a:endParaRPr lang="en-US" sz="4800" b="0" strike="noStrike" spc="-1">
              <a:latin typeface="Noto Sans CJK KR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1239840" y="3522600"/>
            <a:ext cx="978876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800" b="0" strike="noStrike" spc="-1">
                <a:solidFill>
                  <a:srgbClr val="000000"/>
                </a:solidFill>
                <a:latin typeface="Noto Sans CJK KR"/>
              </a:rPr>
              <a:t>수식 이미지를 인식하고 단계별 풀이 설명과 소통 가능한 튜터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</a:rPr>
              <a:t>AI </a:t>
            </a:r>
            <a:endParaRPr lang="en-US" sz="18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</a:rPr>
              <a:t> </a:t>
            </a:r>
            <a:endParaRPr lang="en-US" sz="1800" b="0" strike="noStrike" spc="-1">
              <a:latin typeface="Noto Sans CJK KR"/>
            </a:endParaRPr>
          </a:p>
        </p:txBody>
      </p:sp>
      <p:pic>
        <p:nvPicPr>
          <p:cNvPr id="180" name="Picture 2" descr="서울기술교육센터"/>
          <p:cNvPicPr/>
          <p:nvPr/>
        </p:nvPicPr>
        <p:blipFill>
          <a:blip r:embed="rId2"/>
          <a:stretch/>
        </p:blipFill>
        <p:spPr>
          <a:xfrm>
            <a:off x="9615600" y="5969880"/>
            <a:ext cx="2097000" cy="468360"/>
          </a:xfrm>
          <a:prstGeom prst="rect">
            <a:avLst/>
          </a:prstGeom>
          <a:ln w="0">
            <a:noFill/>
          </a:ln>
          <a:effectLst>
            <a:reflection stA="20000" endPos="65000" dist="50800" dir="5400000" sy="-100000" algn="bl" rotWithShape="0"/>
          </a:effectLst>
        </p:spPr>
      </p:pic>
      <p:sp>
        <p:nvSpPr>
          <p:cNvPr id="181" name="부제목 2"/>
          <p:cNvSpPr/>
          <p:nvPr/>
        </p:nvSpPr>
        <p:spPr>
          <a:xfrm rot="21570600">
            <a:off x="3570840" y="4640760"/>
            <a:ext cx="470088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(6</a:t>
            </a:r>
            <a:r>
              <a:rPr lang="ko-KR" sz="16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조</a:t>
            </a:r>
            <a:r>
              <a:rPr lang="en-US" sz="16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)  </a:t>
            </a:r>
            <a:r>
              <a:rPr lang="ko-KR" sz="16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정민교  조성현  윤종민  박승헌</a:t>
            </a:r>
            <a:endParaRPr lang="en-US" sz="16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Trebuchet MS"/>
              </a:rPr>
              <a:t>1. </a:t>
            </a:r>
            <a:r>
              <a:rPr lang="ko-KR" sz="2000" b="1" strike="noStrike" spc="-1">
                <a:solidFill>
                  <a:srgbClr val="000000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</a:rPr>
              <a:t>2. 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184" name="PlaceHolder 4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4.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5.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Trebuchet MS"/>
              </a:rPr>
              <a:t>1. </a:t>
            </a:r>
            <a:r>
              <a:rPr lang="ko-KR" sz="2000" b="1" strike="noStrike" spc="-1">
                <a:solidFill>
                  <a:srgbClr val="000000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808080"/>
                </a:solidFill>
                <a:latin typeface="Noto Sans CJK KR"/>
              </a:rPr>
              <a:t>2.  </a:t>
            </a:r>
            <a:r>
              <a:rPr lang="ko-KR" sz="2000" b="0" strike="noStrike" spc="-1">
                <a:solidFill>
                  <a:srgbClr val="808080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3. </a:t>
            </a:r>
            <a:r>
              <a:rPr lang="ko-KR" sz="20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808080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187" name="PlaceHolder 40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4.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5.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부제목 1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개발 배경 및 목표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189" name="PlaceHolder 3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1.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개요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1260720" y="1800000"/>
            <a:ext cx="845820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개발 배경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교육 분야에 인공지능 기술을 접목하여 수학 문제의 정답만을 제공하는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                        AI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가 아닌 학생이 직접 단계별로 풀어나갈 수 있도록 유도하는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AI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시스템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</p:txBody>
      </p:sp>
      <p:pic>
        <p:nvPicPr>
          <p:cNvPr id="191" name="그림 190"/>
          <p:cNvPicPr/>
          <p:nvPr/>
        </p:nvPicPr>
        <p:blipFill>
          <a:blip r:embed="rId2"/>
          <a:stretch/>
        </p:blipFill>
        <p:spPr>
          <a:xfrm>
            <a:off x="1119960" y="2880000"/>
            <a:ext cx="9951120" cy="341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부제목 13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개발 배경 및 목표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193" name="PlaceHolder 27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1.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개요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1260000" y="1799280"/>
            <a:ext cx="881892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목표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수학 문제 자세한 풀이 설명  →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AI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와의 인터랙션  →  학생에게 자기 주도적 풀이 유도    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195" name="그림 194"/>
          <p:cNvPicPr/>
          <p:nvPr/>
        </p:nvPicPr>
        <p:blipFill>
          <a:blip r:embed="rId2"/>
          <a:stretch/>
        </p:blipFill>
        <p:spPr>
          <a:xfrm>
            <a:off x="989640" y="2520000"/>
            <a:ext cx="10211760" cy="395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부제목 3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개발 환경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197" name="PlaceHolder 5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1.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개요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1260000" y="1800000"/>
            <a:ext cx="8458200" cy="233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기기</a:t>
            </a: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Raspberry Pi (RAM 4GB), PC, USB 2.0 PC Cam, USB</a:t>
            </a:r>
            <a:r>
              <a:rPr lang="ko-KR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 </a:t>
            </a: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MIC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200000"/>
              </a:lnSpc>
              <a:buNone/>
              <a:tabLst>
                <a:tab pos="40824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언어</a:t>
            </a: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python, JavaScript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200000"/>
              </a:lnSpc>
              <a:buNone/>
              <a:tabLst>
                <a:tab pos="40824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(3) </a:t>
            </a: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Tool</a:t>
            </a: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Mathpix API, LLM gemma3:12b, gTTS, github, Whisper STT</a:t>
            </a:r>
            <a:endParaRPr lang="en-US" sz="2000" b="0" strike="noStrike" spc="-1">
              <a:latin typeface="Noto Sans CJK KR"/>
            </a:endParaRPr>
          </a:p>
        </p:txBody>
      </p:sp>
      <p:pic>
        <p:nvPicPr>
          <p:cNvPr id="199" name="그림 198"/>
          <p:cNvPicPr/>
          <p:nvPr/>
        </p:nvPicPr>
        <p:blipFill>
          <a:blip r:embed="rId2"/>
          <a:stretch/>
        </p:blipFill>
        <p:spPr>
          <a:xfrm>
            <a:off x="1278720" y="4154760"/>
            <a:ext cx="9632880" cy="2143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Trebuchet MS"/>
              </a:rPr>
              <a:t>1. </a:t>
            </a:r>
            <a:r>
              <a:rPr lang="ko-KR" sz="2000" b="0" strike="noStrike" spc="-1">
                <a:solidFill>
                  <a:srgbClr val="666666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</a:rPr>
              <a:t>2. 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3.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202" name="PlaceHolder 37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4.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5.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부제목 10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전체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Architecture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04" name="PlaceHolder 11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2.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시스템 구성도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05" name="그림 204"/>
          <p:cNvPicPr/>
          <p:nvPr/>
        </p:nvPicPr>
        <p:blipFill>
          <a:blip r:embed="rId2"/>
          <a:stretch/>
        </p:blipFill>
        <p:spPr>
          <a:xfrm>
            <a:off x="1559160" y="1800000"/>
            <a:ext cx="9072000" cy="4847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부제목 8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Workflow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07" name="PlaceHolder 9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2.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시스템 구성도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08" name="그림 207"/>
          <p:cNvPicPr/>
          <p:nvPr/>
        </p:nvPicPr>
        <p:blipFill>
          <a:blip r:embed="rId2"/>
          <a:stretch/>
        </p:blipFill>
        <p:spPr>
          <a:xfrm>
            <a:off x="1259280" y="1766880"/>
            <a:ext cx="9672120" cy="4891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부제목 9"/>
          <p:cNvSpPr/>
          <p:nvPr/>
        </p:nvSpPr>
        <p:spPr>
          <a:xfrm>
            <a:off x="900360" y="1205280"/>
            <a:ext cx="4677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주요 기술 스택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10" name="PlaceHolder 10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2.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시스템 구성도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11" name="그림 210"/>
          <p:cNvPicPr/>
          <p:nvPr/>
        </p:nvPicPr>
        <p:blipFill>
          <a:blip r:embed="rId2"/>
          <a:stretch/>
        </p:blipFill>
        <p:spPr>
          <a:xfrm>
            <a:off x="2340000" y="1799280"/>
            <a:ext cx="7378920" cy="4788720"/>
          </a:xfrm>
          <a:prstGeom prst="rect">
            <a:avLst/>
          </a:prstGeom>
          <a:ln w="0">
            <a:noFill/>
          </a:ln>
        </p:spPr>
      </p:pic>
      <p:pic>
        <p:nvPicPr>
          <p:cNvPr id="212" name="그림 211"/>
          <p:cNvPicPr/>
          <p:nvPr/>
        </p:nvPicPr>
        <p:blipFill>
          <a:blip r:embed="rId3"/>
          <a:srcRect l="16610" t="-40" r="16681" b="6704"/>
          <a:stretch/>
        </p:blipFill>
        <p:spPr>
          <a:xfrm>
            <a:off x="4320000" y="4140000"/>
            <a:ext cx="898920" cy="89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Trebuchet MS"/>
              </a:rPr>
              <a:t>1. </a:t>
            </a:r>
            <a:r>
              <a:rPr lang="ko-KR" sz="2000" b="0" strike="noStrike" spc="-1">
                <a:solidFill>
                  <a:srgbClr val="666666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</a:rPr>
              <a:t>2. 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215" name="PlaceHolder 34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4.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5.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28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17" name="그림 216"/>
          <p:cNvPicPr/>
          <p:nvPr/>
        </p:nvPicPr>
        <p:blipFill>
          <a:blip r:embed="rId2"/>
          <a:stretch/>
        </p:blipFill>
        <p:spPr>
          <a:xfrm>
            <a:off x="1035000" y="1220760"/>
            <a:ext cx="10121040" cy="5359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직사각형 217"/>
          <p:cNvSpPr/>
          <p:nvPr/>
        </p:nvSpPr>
        <p:spPr>
          <a:xfrm>
            <a:off x="6300000" y="1610640"/>
            <a:ext cx="5218200" cy="503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19" name="직사각형 218"/>
          <p:cNvSpPr/>
          <p:nvPr/>
        </p:nvSpPr>
        <p:spPr>
          <a:xfrm>
            <a:off x="1041840" y="1620000"/>
            <a:ext cx="4318200" cy="503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20" name="부제목 6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OCR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21" name="PlaceHolder 6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22" name="그림 221"/>
          <p:cNvPicPr/>
          <p:nvPr/>
        </p:nvPicPr>
        <p:blipFill>
          <a:blip r:embed="rId2"/>
          <a:stretch/>
        </p:blipFill>
        <p:spPr>
          <a:xfrm>
            <a:off x="1226520" y="2143080"/>
            <a:ext cx="3958200" cy="3975120"/>
          </a:xfrm>
          <a:prstGeom prst="rect">
            <a:avLst/>
          </a:prstGeom>
          <a:ln w="0">
            <a:noFill/>
          </a:ln>
        </p:spPr>
      </p:pic>
      <p:pic>
        <p:nvPicPr>
          <p:cNvPr id="223" name="그림 222"/>
          <p:cNvPicPr/>
          <p:nvPr/>
        </p:nvPicPr>
        <p:blipFill>
          <a:blip r:embed="rId3"/>
          <a:stretch/>
        </p:blipFill>
        <p:spPr>
          <a:xfrm>
            <a:off x="6506640" y="2145960"/>
            <a:ext cx="4826880" cy="3958200"/>
          </a:xfrm>
          <a:prstGeom prst="rect">
            <a:avLst/>
          </a:prstGeom>
          <a:ln w="0">
            <a:noFill/>
          </a:ln>
        </p:spPr>
      </p:pic>
      <p:sp>
        <p:nvSpPr>
          <p:cNvPr id="224" name="직사각형 223"/>
          <p:cNvSpPr/>
          <p:nvPr/>
        </p:nvSpPr>
        <p:spPr>
          <a:xfrm>
            <a:off x="12265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run_camera_capture() 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6480000" y="16106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 get_latex_from_mathpix(image_path)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1226520" y="6124680"/>
            <a:ext cx="43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OpenCV GUI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이용하여 이미지 캡처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6506640" y="6105960"/>
            <a:ext cx="536688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mathpix API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통해 이미지를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문자열로 변환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28" name="직선 연결선 227"/>
          <p:cNvSpPr/>
          <p:nvPr/>
        </p:nvSpPr>
        <p:spPr>
          <a:xfrm>
            <a:off x="5580000" y="4140000"/>
            <a:ext cx="5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29" name="그림 228"/>
          <p:cNvPicPr/>
          <p:nvPr/>
        </p:nvPicPr>
        <p:blipFill>
          <a:blip r:embed="rId4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표 229"/>
          <p:cNvGraphicFramePr/>
          <p:nvPr/>
        </p:nvGraphicFramePr>
        <p:xfrm>
          <a:off x="540000" y="1620000"/>
          <a:ext cx="11160000" cy="5096880"/>
        </p:xfrm>
        <a:graphic>
          <a:graphicData uri="http://schemas.openxmlformats.org/drawingml/2006/table">
            <a:tbl>
              <a:tblPr/>
              <a:tblGrid>
                <a:gridCol w="196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예시 문제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수식 이미지                    </a:t>
                      </a:r>
                      <a:r>
                        <a:rPr lang="en-US" sz="2600" b="1" strike="noStrike" spc="-1">
                          <a:latin typeface="Noto Sans CJK KR"/>
                        </a:rPr>
                        <a:t>→</a:t>
                      </a:r>
                      <a:r>
                        <a:rPr lang="en-US" sz="1800" b="1" strike="noStrike" spc="-1">
                          <a:latin typeface="Noto Sans CJK KR"/>
                        </a:rPr>
                        <a:t>                       LaTeX </a:t>
                      </a:r>
                      <a:r>
                        <a:rPr lang="ko-KR" sz="1800" b="1" strike="noStrike" spc="-1">
                          <a:latin typeface="Noto Sans CJK KR"/>
                        </a:rPr>
                        <a:t>수식 및 </a:t>
                      </a:r>
                      <a:r>
                        <a:rPr lang="en-US" sz="1800" b="1" strike="noStrike" spc="-1">
                          <a:latin typeface="Noto Sans CJK KR"/>
                        </a:rPr>
                        <a:t>Text </a:t>
                      </a:r>
                      <a:r>
                        <a:rPr lang="ko-KR" sz="1800" b="1" strike="noStrike" spc="-1">
                          <a:latin typeface="Noto Sans CJK KR"/>
                        </a:rPr>
                        <a:t>명령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latin typeface="Noto Sans CJK KR"/>
                        </a:rPr>
                        <a:t>Fourier </a:t>
                      </a:r>
                      <a:r>
                        <a:rPr lang="ko-KR" sz="1800" b="1" strike="noStrike" spc="-1">
                          <a:latin typeface="Noto Sans CJK KR"/>
                        </a:rPr>
                        <a:t>변환 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삼차방정식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삼각함수</a:t>
                      </a:r>
                      <a:endParaRPr lang="en-US" sz="1800" b="0" strike="noStrike" spc="-1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부정적분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지수함수</a:t>
                      </a:r>
                      <a:endParaRPr lang="en-US" sz="1800" b="0" strike="noStrike" spc="-1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미분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부제목 11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OCR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32" name="PlaceHolder 12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233" name="그림 232"/>
          <p:cNvPicPr/>
          <p:nvPr/>
        </p:nvPicPr>
        <p:blipFill>
          <a:blip r:embed="rId2"/>
          <a:srcRect l="5652" t="8488" r="35156" b="52087"/>
          <a:stretch/>
        </p:blipFill>
        <p:spPr>
          <a:xfrm>
            <a:off x="3240000" y="2340000"/>
            <a:ext cx="2338560" cy="9432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34" name="그림 233"/>
          <p:cNvPicPr/>
          <p:nvPr/>
        </p:nvPicPr>
        <p:blipFill>
          <a:blip r:embed="rId3"/>
          <a:srcRect b="55309"/>
          <a:stretch/>
        </p:blipFill>
        <p:spPr>
          <a:xfrm>
            <a:off x="6867360" y="2340000"/>
            <a:ext cx="4188960" cy="898200"/>
          </a:xfrm>
          <a:prstGeom prst="rect">
            <a:avLst/>
          </a:prstGeom>
          <a:ln w="0">
            <a:noFill/>
          </a:ln>
        </p:spPr>
      </p:pic>
      <p:pic>
        <p:nvPicPr>
          <p:cNvPr id="235" name="그림 234"/>
          <p:cNvPicPr/>
          <p:nvPr/>
        </p:nvPicPr>
        <p:blipFill>
          <a:blip r:embed="rId4"/>
          <a:srcRect l="13636" t="20299" r="18443" b="44220"/>
          <a:stretch/>
        </p:blipFill>
        <p:spPr>
          <a:xfrm>
            <a:off x="3240000" y="3420000"/>
            <a:ext cx="2338920" cy="9838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36" name="그림 235"/>
          <p:cNvPicPr/>
          <p:nvPr/>
        </p:nvPicPr>
        <p:blipFill>
          <a:blip r:embed="rId5"/>
          <a:srcRect b="55110"/>
          <a:stretch/>
        </p:blipFill>
        <p:spPr>
          <a:xfrm>
            <a:off x="6840000" y="3484440"/>
            <a:ext cx="3817440" cy="833760"/>
          </a:xfrm>
          <a:prstGeom prst="rect">
            <a:avLst/>
          </a:prstGeom>
          <a:ln w="0">
            <a:noFill/>
          </a:ln>
        </p:spPr>
      </p:pic>
      <p:pic>
        <p:nvPicPr>
          <p:cNvPr id="237" name="그림 236"/>
          <p:cNvPicPr/>
          <p:nvPr/>
        </p:nvPicPr>
        <p:blipFill>
          <a:blip r:embed="rId6"/>
          <a:srcRect l="22495" t="21654" r="12538" b="27150"/>
          <a:stretch/>
        </p:blipFill>
        <p:spPr>
          <a:xfrm>
            <a:off x="3240000" y="4500000"/>
            <a:ext cx="2338200" cy="10544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38" name="그림 237"/>
          <p:cNvPicPr/>
          <p:nvPr/>
        </p:nvPicPr>
        <p:blipFill>
          <a:blip r:embed="rId7"/>
          <a:srcRect r="15917" b="69089"/>
          <a:stretch/>
        </p:blipFill>
        <p:spPr>
          <a:xfrm>
            <a:off x="6852960" y="4613760"/>
            <a:ext cx="4678200" cy="784440"/>
          </a:xfrm>
          <a:prstGeom prst="rect">
            <a:avLst/>
          </a:prstGeom>
          <a:ln w="0">
            <a:noFill/>
          </a:ln>
        </p:spPr>
      </p:pic>
      <p:pic>
        <p:nvPicPr>
          <p:cNvPr id="239" name="그림 238"/>
          <p:cNvPicPr/>
          <p:nvPr/>
        </p:nvPicPr>
        <p:blipFill>
          <a:blip r:embed="rId8"/>
          <a:srcRect l="-1128" t="12756" r="12520" b="36016"/>
          <a:stretch/>
        </p:blipFill>
        <p:spPr>
          <a:xfrm>
            <a:off x="3240000" y="5724000"/>
            <a:ext cx="2338560" cy="9342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40" name="그림 239"/>
          <p:cNvPicPr/>
          <p:nvPr/>
        </p:nvPicPr>
        <p:blipFill>
          <a:blip r:embed="rId9"/>
          <a:srcRect b="54465"/>
          <a:stretch/>
        </p:blipFill>
        <p:spPr>
          <a:xfrm>
            <a:off x="6868440" y="5760000"/>
            <a:ext cx="3569760" cy="834480"/>
          </a:xfrm>
          <a:prstGeom prst="rect">
            <a:avLst/>
          </a:prstGeom>
          <a:ln w="0">
            <a:noFill/>
          </a:ln>
        </p:spPr>
      </p:pic>
      <p:pic>
        <p:nvPicPr>
          <p:cNvPr id="241" name="그림 240"/>
          <p:cNvPicPr/>
          <p:nvPr/>
        </p:nvPicPr>
        <p:blipFill>
          <a:blip r:embed="rId10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직사각형 241"/>
          <p:cNvSpPr/>
          <p:nvPr/>
        </p:nvSpPr>
        <p:spPr>
          <a:xfrm>
            <a:off x="1080000" y="4680720"/>
            <a:ext cx="9899280" cy="1978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43" name="직사각형 242"/>
          <p:cNvSpPr/>
          <p:nvPr/>
        </p:nvSpPr>
        <p:spPr>
          <a:xfrm>
            <a:off x="1080000" y="2160000"/>
            <a:ext cx="9899280" cy="18529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44" name="부제목 27"/>
          <p:cNvSpPr/>
          <p:nvPr/>
        </p:nvSpPr>
        <p:spPr>
          <a:xfrm>
            <a:off x="900000" y="12204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수식이란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?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45" name="PlaceHolder 29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246" name="직사각형 245"/>
          <p:cNvSpPr/>
          <p:nvPr/>
        </p:nvSpPr>
        <p:spPr>
          <a:xfrm>
            <a:off x="1260000" y="1565640"/>
            <a:ext cx="881892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</a:t>
            </a:r>
            <a:r>
              <a:rPr lang="en-US" sz="16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수식과 논문 작성을 위한 프로그래밍 기반 문서 언어 표준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ex)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247" name="그림 246"/>
          <p:cNvPicPr/>
          <p:nvPr/>
        </p:nvPicPr>
        <p:blipFill>
          <a:blip r:embed="rId2"/>
          <a:stretch/>
        </p:blipFill>
        <p:spPr>
          <a:xfrm>
            <a:off x="2070000" y="2393640"/>
            <a:ext cx="1709280" cy="6706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48" name="직선 연결선 247"/>
          <p:cNvSpPr/>
          <p:nvPr/>
        </p:nvSpPr>
        <p:spPr>
          <a:xfrm>
            <a:off x="4320000" y="2753640"/>
            <a:ext cx="36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49" name="그림 248"/>
          <p:cNvPicPr/>
          <p:nvPr/>
        </p:nvPicPr>
        <p:blipFill>
          <a:blip r:embed="rId3"/>
          <a:srcRect r="5288"/>
          <a:stretch/>
        </p:blipFill>
        <p:spPr>
          <a:xfrm>
            <a:off x="1980000" y="3293640"/>
            <a:ext cx="1978920" cy="6084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50" name="그림 249"/>
          <p:cNvPicPr/>
          <p:nvPr/>
        </p:nvPicPr>
        <p:blipFill>
          <a:blip r:embed="rId4"/>
          <a:stretch/>
        </p:blipFill>
        <p:spPr>
          <a:xfrm>
            <a:off x="5040000" y="3324960"/>
            <a:ext cx="5399280" cy="50796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51" name="직선 연결선 250"/>
          <p:cNvSpPr/>
          <p:nvPr/>
        </p:nvSpPr>
        <p:spPr>
          <a:xfrm>
            <a:off x="4320000" y="3653640"/>
            <a:ext cx="36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52" name="그림 251"/>
          <p:cNvPicPr/>
          <p:nvPr/>
        </p:nvPicPr>
        <p:blipFill>
          <a:blip r:embed="rId5"/>
          <a:stretch/>
        </p:blipFill>
        <p:spPr>
          <a:xfrm>
            <a:off x="5040000" y="2393640"/>
            <a:ext cx="5579280" cy="5248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53" name="직사각형 252"/>
          <p:cNvSpPr/>
          <p:nvPr/>
        </p:nvSpPr>
        <p:spPr>
          <a:xfrm>
            <a:off x="1260360" y="4140000"/>
            <a:ext cx="881892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</a:t>
            </a:r>
            <a:r>
              <a:rPr lang="en-US" sz="16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:  python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에서 수학 수식을 다루기 위한 수학 라이브러리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ex) 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254" name="그림 253"/>
          <p:cNvPicPr/>
          <p:nvPr/>
        </p:nvPicPr>
        <p:blipFill>
          <a:blip r:embed="rId2"/>
          <a:stretch/>
        </p:blipFill>
        <p:spPr>
          <a:xfrm>
            <a:off x="2070000" y="4914360"/>
            <a:ext cx="1709280" cy="6706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55" name="직선 연결선 254"/>
          <p:cNvSpPr/>
          <p:nvPr/>
        </p:nvSpPr>
        <p:spPr>
          <a:xfrm>
            <a:off x="4320000" y="5274360"/>
            <a:ext cx="36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56" name="그림 255"/>
          <p:cNvPicPr/>
          <p:nvPr/>
        </p:nvPicPr>
        <p:blipFill>
          <a:blip r:embed="rId3"/>
          <a:srcRect r="5288"/>
          <a:stretch/>
        </p:blipFill>
        <p:spPr>
          <a:xfrm>
            <a:off x="1980000" y="5814360"/>
            <a:ext cx="1978920" cy="6084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57" name="직선 연결선 256"/>
          <p:cNvSpPr/>
          <p:nvPr/>
        </p:nvSpPr>
        <p:spPr>
          <a:xfrm>
            <a:off x="4320000" y="6174360"/>
            <a:ext cx="36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58" name="그림 257"/>
          <p:cNvPicPr/>
          <p:nvPr/>
        </p:nvPicPr>
        <p:blipFill>
          <a:blip r:embed="rId6"/>
          <a:stretch/>
        </p:blipFill>
        <p:spPr>
          <a:xfrm>
            <a:off x="5040000" y="5013720"/>
            <a:ext cx="4859280" cy="5522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59" name="그림 258"/>
          <p:cNvPicPr/>
          <p:nvPr/>
        </p:nvPicPr>
        <p:blipFill>
          <a:blip r:embed="rId7"/>
          <a:srcRect l="58301"/>
          <a:stretch/>
        </p:blipFill>
        <p:spPr>
          <a:xfrm>
            <a:off x="5040000" y="5940000"/>
            <a:ext cx="1079280" cy="4384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60" name="그림 259"/>
          <p:cNvPicPr/>
          <p:nvPr/>
        </p:nvPicPr>
        <p:blipFill>
          <a:blip r:embed="rId8"/>
          <a:srcRect l="49974"/>
          <a:stretch/>
        </p:blipFill>
        <p:spPr>
          <a:xfrm>
            <a:off x="6300000" y="5940000"/>
            <a:ext cx="1079280" cy="4460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261" name="그림 260"/>
          <p:cNvPicPr/>
          <p:nvPr/>
        </p:nvPicPr>
        <p:blipFill>
          <a:blip r:embed="rId9"/>
          <a:stretch/>
        </p:blipFill>
        <p:spPr>
          <a:xfrm>
            <a:off x="7560000" y="5940000"/>
            <a:ext cx="2699280" cy="42840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직사각형 261"/>
          <p:cNvSpPr/>
          <p:nvPr/>
        </p:nvSpPr>
        <p:spPr>
          <a:xfrm>
            <a:off x="6631920" y="4495320"/>
            <a:ext cx="4498200" cy="216288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63" name="직사각형 262"/>
          <p:cNvSpPr/>
          <p:nvPr/>
        </p:nvSpPr>
        <p:spPr>
          <a:xfrm>
            <a:off x="6631920" y="1610640"/>
            <a:ext cx="4498200" cy="288288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64" name="직사각형 263"/>
          <p:cNvSpPr/>
          <p:nvPr/>
        </p:nvSpPr>
        <p:spPr>
          <a:xfrm>
            <a:off x="1051920" y="1624680"/>
            <a:ext cx="4498200" cy="179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65" name="부제목 14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전처리 및 파싱 보조 함수 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66" name="PlaceHolder 13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12319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clean_exponents(expr)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6811920" y="16106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(3)  convert_trig_functions(expr)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1260000" y="2880000"/>
            <a:ext cx="43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지수 표기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**2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형식으로 통일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6843240" y="3960000"/>
            <a:ext cx="464688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\sin(x)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같은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용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삼각함수로 변환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271" name="그림 270"/>
          <p:cNvPicPr/>
          <p:nvPr/>
        </p:nvPicPr>
        <p:blipFill>
          <a:blip r:embed="rId2"/>
          <a:stretch/>
        </p:blipFill>
        <p:spPr>
          <a:xfrm>
            <a:off x="1260000" y="2107440"/>
            <a:ext cx="4110120" cy="770760"/>
          </a:xfrm>
          <a:prstGeom prst="rect">
            <a:avLst/>
          </a:prstGeom>
          <a:ln w="0">
            <a:noFill/>
          </a:ln>
        </p:spPr>
      </p:pic>
      <p:sp>
        <p:nvSpPr>
          <p:cNvPr id="272" name="직사각형 271"/>
          <p:cNvSpPr/>
          <p:nvPr/>
        </p:nvSpPr>
        <p:spPr>
          <a:xfrm>
            <a:off x="1051920" y="3424680"/>
            <a:ext cx="4498200" cy="323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73" name="직사각형 272"/>
          <p:cNvSpPr/>
          <p:nvPr/>
        </p:nvSpPr>
        <p:spPr>
          <a:xfrm>
            <a:off x="1231920" y="34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 insert_multiplication(expr)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1260000" y="6120000"/>
            <a:ext cx="43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3x, x(x+1), a b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같이 누락된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곱셈 연산자 </a:t>
            </a:r>
            <a:r>
              <a:rPr lang="en-US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*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삽입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275" name="그림 274"/>
          <p:cNvPicPr/>
          <p:nvPr/>
        </p:nvPicPr>
        <p:blipFill>
          <a:blip r:embed="rId3"/>
          <a:stretch/>
        </p:blipFill>
        <p:spPr>
          <a:xfrm>
            <a:off x="1260000" y="3925800"/>
            <a:ext cx="4110120" cy="2192400"/>
          </a:xfrm>
          <a:prstGeom prst="rect">
            <a:avLst/>
          </a:prstGeom>
          <a:ln w="0">
            <a:noFill/>
          </a:ln>
        </p:spPr>
      </p:pic>
      <p:pic>
        <p:nvPicPr>
          <p:cNvPr id="276" name="그림 275"/>
          <p:cNvPicPr/>
          <p:nvPr/>
        </p:nvPicPr>
        <p:blipFill>
          <a:blip r:embed="rId4"/>
          <a:stretch/>
        </p:blipFill>
        <p:spPr>
          <a:xfrm>
            <a:off x="6811920" y="2058120"/>
            <a:ext cx="4110120" cy="1900080"/>
          </a:xfrm>
          <a:prstGeom prst="rect">
            <a:avLst/>
          </a:prstGeom>
          <a:ln w="0">
            <a:noFill/>
          </a:ln>
        </p:spPr>
      </p:pic>
      <p:sp>
        <p:nvSpPr>
          <p:cNvPr id="277" name="직사각형 276"/>
          <p:cNvSpPr/>
          <p:nvPr/>
        </p:nvSpPr>
        <p:spPr>
          <a:xfrm>
            <a:off x="6844680" y="457632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(4) convert_degrees(expr)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6856560" y="6053040"/>
            <a:ext cx="464544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90°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또는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\circ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(rad(90))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으로 </a:t>
            </a:r>
            <a:r>
              <a:rPr lang="en-US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radian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279" name="그림 278"/>
          <p:cNvPicPr/>
          <p:nvPr/>
        </p:nvPicPr>
        <p:blipFill>
          <a:blip r:embed="rId5"/>
          <a:stretch/>
        </p:blipFill>
        <p:spPr>
          <a:xfrm>
            <a:off x="6840000" y="5111640"/>
            <a:ext cx="4130640" cy="939600"/>
          </a:xfrm>
          <a:prstGeom prst="rect">
            <a:avLst/>
          </a:prstGeom>
          <a:ln w="0">
            <a:noFill/>
          </a:ln>
        </p:spPr>
      </p:pic>
      <p:pic>
        <p:nvPicPr>
          <p:cNvPr id="280" name="그림 279"/>
          <p:cNvPicPr/>
          <p:nvPr/>
        </p:nvPicPr>
        <p:blipFill>
          <a:blip r:embed="rId6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직사각형 280"/>
          <p:cNvSpPr/>
          <p:nvPr/>
        </p:nvSpPr>
        <p:spPr>
          <a:xfrm>
            <a:off x="6643800" y="1610640"/>
            <a:ext cx="4498200" cy="504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82" name="직사각형 281"/>
          <p:cNvSpPr/>
          <p:nvPr/>
        </p:nvSpPr>
        <p:spPr>
          <a:xfrm>
            <a:off x="1051920" y="1624680"/>
            <a:ext cx="4498200" cy="269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83" name="부제목 15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전처리 및 파싱 보조 함수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284" name="PlaceHolder 14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12319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(5) add_parentheses_to_functions(expr)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6811920" y="16106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(7)  convert_trig_functions(expr)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87" name="직사각형 286"/>
          <p:cNvSpPr/>
          <p:nvPr/>
        </p:nvSpPr>
        <p:spPr>
          <a:xfrm>
            <a:off x="1260000" y="3708720"/>
            <a:ext cx="43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함수명 뒤에 괄호가 없으면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괄호 추가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88" name="직사각형 287"/>
          <p:cNvSpPr/>
          <p:nvPr/>
        </p:nvSpPr>
        <p:spPr>
          <a:xfrm>
            <a:off x="6871320" y="5224680"/>
            <a:ext cx="4646880" cy="179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위의 모든 전처리 함수를 순서대로 적용하고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LaTeX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표현을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에서 파싱 가능한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파이썬 수식으로 정리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289" name="직사각형 288"/>
          <p:cNvSpPr/>
          <p:nvPr/>
        </p:nvSpPr>
        <p:spPr>
          <a:xfrm>
            <a:off x="1051920" y="4320000"/>
            <a:ext cx="4498200" cy="233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90" name="직사각형 289"/>
          <p:cNvSpPr/>
          <p:nvPr/>
        </p:nvSpPr>
        <p:spPr>
          <a:xfrm>
            <a:off x="1264680" y="43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(6)  convert_frac(expr)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1260000" y="6120000"/>
            <a:ext cx="43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\frac{a}{b} → (a)/(b)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형식으로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분수 변환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292" name="그림 291"/>
          <p:cNvPicPr/>
          <p:nvPr/>
        </p:nvPicPr>
        <p:blipFill>
          <a:blip r:embed="rId2"/>
          <a:stretch/>
        </p:blipFill>
        <p:spPr>
          <a:xfrm>
            <a:off x="1260000" y="2160000"/>
            <a:ext cx="4138200" cy="1546920"/>
          </a:xfrm>
          <a:prstGeom prst="rect">
            <a:avLst/>
          </a:prstGeom>
          <a:ln w="0">
            <a:noFill/>
          </a:ln>
        </p:spPr>
      </p:pic>
      <p:pic>
        <p:nvPicPr>
          <p:cNvPr id="293" name="그림 292"/>
          <p:cNvPicPr/>
          <p:nvPr/>
        </p:nvPicPr>
        <p:blipFill>
          <a:blip r:embed="rId3"/>
          <a:stretch/>
        </p:blipFill>
        <p:spPr>
          <a:xfrm>
            <a:off x="1260000" y="4860000"/>
            <a:ext cx="4127400" cy="1258200"/>
          </a:xfrm>
          <a:prstGeom prst="rect">
            <a:avLst/>
          </a:prstGeom>
          <a:ln w="0">
            <a:noFill/>
          </a:ln>
        </p:spPr>
      </p:pic>
      <p:pic>
        <p:nvPicPr>
          <p:cNvPr id="294" name="그림 293"/>
          <p:cNvPicPr/>
          <p:nvPr/>
        </p:nvPicPr>
        <p:blipFill>
          <a:blip r:embed="rId4"/>
          <a:stretch/>
        </p:blipFill>
        <p:spPr>
          <a:xfrm>
            <a:off x="6819480" y="2157120"/>
            <a:ext cx="4158720" cy="2881080"/>
          </a:xfrm>
          <a:prstGeom prst="rect">
            <a:avLst/>
          </a:prstGeom>
          <a:ln w="0">
            <a:noFill/>
          </a:ln>
        </p:spPr>
      </p:pic>
      <p:pic>
        <p:nvPicPr>
          <p:cNvPr id="295" name="그림 294"/>
          <p:cNvPicPr/>
          <p:nvPr/>
        </p:nvPicPr>
        <p:blipFill>
          <a:blip r:embed="rId5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직사각형 295"/>
          <p:cNvSpPr/>
          <p:nvPr/>
        </p:nvSpPr>
        <p:spPr>
          <a:xfrm>
            <a:off x="1051920" y="3600000"/>
            <a:ext cx="4498200" cy="306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97" name="직사각형 296"/>
          <p:cNvSpPr/>
          <p:nvPr/>
        </p:nvSpPr>
        <p:spPr>
          <a:xfrm>
            <a:off x="6631920" y="3600000"/>
            <a:ext cx="4498200" cy="305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98" name="직사각형 297"/>
          <p:cNvSpPr/>
          <p:nvPr/>
        </p:nvSpPr>
        <p:spPr>
          <a:xfrm>
            <a:off x="1051920" y="1624680"/>
            <a:ext cx="4498200" cy="215424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99" name="부제목 16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해석 및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 함수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00" name="PlaceHolder 15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12319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solve_direct_eval(latex_expr)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1237320" y="378000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 solve_fourier(latex_expr)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1237320" y="3240720"/>
            <a:ext cx="4678200" cy="53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일반 계산을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하여 숫자 결과 출력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6631920" y="1620000"/>
            <a:ext cx="4498200" cy="233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05" name="직사각형 304"/>
          <p:cNvSpPr/>
          <p:nvPr/>
        </p:nvSpPr>
        <p:spPr>
          <a:xfrm>
            <a:off x="6844680" y="162000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(3)  solve_equation(latex_expr)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6840000" y="3424680"/>
            <a:ext cx="467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solve(expr, x)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사용하여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방정식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풀이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07" name="그림 306"/>
          <p:cNvPicPr/>
          <p:nvPr/>
        </p:nvPicPr>
        <p:blipFill>
          <a:blip r:embed="rId2"/>
          <a:stretch/>
        </p:blipFill>
        <p:spPr>
          <a:xfrm>
            <a:off x="7024680" y="2096280"/>
            <a:ext cx="3773520" cy="1326600"/>
          </a:xfrm>
          <a:prstGeom prst="rect">
            <a:avLst/>
          </a:prstGeom>
          <a:ln w="0">
            <a:noFill/>
          </a:ln>
        </p:spPr>
      </p:pic>
      <p:pic>
        <p:nvPicPr>
          <p:cNvPr id="308" name="그림 307"/>
          <p:cNvPicPr/>
          <p:nvPr/>
        </p:nvPicPr>
        <p:blipFill>
          <a:blip r:embed="rId3"/>
          <a:stretch/>
        </p:blipFill>
        <p:spPr>
          <a:xfrm>
            <a:off x="1440000" y="2160000"/>
            <a:ext cx="3778200" cy="1119600"/>
          </a:xfrm>
          <a:prstGeom prst="rect">
            <a:avLst/>
          </a:prstGeom>
          <a:ln w="0">
            <a:noFill/>
          </a:ln>
        </p:spPr>
      </p:pic>
      <p:pic>
        <p:nvPicPr>
          <p:cNvPr id="309" name="그림 308"/>
          <p:cNvPicPr/>
          <p:nvPr/>
        </p:nvPicPr>
        <p:blipFill>
          <a:blip r:embed="rId4"/>
          <a:stretch/>
        </p:blipFill>
        <p:spPr>
          <a:xfrm>
            <a:off x="1440000" y="4315320"/>
            <a:ext cx="3778200" cy="1828800"/>
          </a:xfrm>
          <a:prstGeom prst="rect">
            <a:avLst/>
          </a:prstGeom>
          <a:ln w="0">
            <a:noFill/>
          </a:ln>
        </p:spPr>
      </p:pic>
      <p:pic>
        <p:nvPicPr>
          <p:cNvPr id="310" name="그림 309"/>
          <p:cNvPicPr/>
          <p:nvPr/>
        </p:nvPicPr>
        <p:blipFill>
          <a:blip r:embed="rId5"/>
          <a:stretch/>
        </p:blipFill>
        <p:spPr>
          <a:xfrm>
            <a:off x="7020000" y="4495320"/>
            <a:ext cx="3772800" cy="1627560"/>
          </a:xfrm>
          <a:prstGeom prst="rect">
            <a:avLst/>
          </a:prstGeom>
          <a:ln w="0">
            <a:noFill/>
          </a:ln>
        </p:spPr>
      </p:pic>
      <p:sp>
        <p:nvSpPr>
          <p:cNvPr id="311" name="직사각형 310"/>
          <p:cNvSpPr/>
          <p:nvPr/>
        </p:nvSpPr>
        <p:spPr>
          <a:xfrm>
            <a:off x="1260000" y="6124680"/>
            <a:ext cx="467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fourier_transform (expr, x)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으로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푸리에 변환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12" name="직사각형 311"/>
          <p:cNvSpPr/>
          <p:nvPr/>
        </p:nvSpPr>
        <p:spPr>
          <a:xfrm>
            <a:off x="6840000" y="396000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(4)  solve_derivative(latex_expr)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313" name="직사각형 312"/>
          <p:cNvSpPr/>
          <p:nvPr/>
        </p:nvSpPr>
        <p:spPr>
          <a:xfrm>
            <a:off x="6872760" y="6124680"/>
            <a:ext cx="464544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diff (expr, x)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사용하여 </a:t>
            </a:r>
            <a:r>
              <a:rPr lang="ko-KR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미분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계산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14" name="그림 313"/>
          <p:cNvPicPr/>
          <p:nvPr/>
        </p:nvPicPr>
        <p:blipFill>
          <a:blip r:embed="rId6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직사각형 314"/>
          <p:cNvSpPr/>
          <p:nvPr/>
        </p:nvSpPr>
        <p:spPr>
          <a:xfrm>
            <a:off x="6631920" y="1610640"/>
            <a:ext cx="4498200" cy="504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16" name="직사각형 315"/>
          <p:cNvSpPr/>
          <p:nvPr/>
        </p:nvSpPr>
        <p:spPr>
          <a:xfrm>
            <a:off x="1051920" y="1624680"/>
            <a:ext cx="4498200" cy="503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17" name="부제목 17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해석 및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 함수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18" name="PlaceHolder 16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19" name="직사각형 318"/>
          <p:cNvSpPr/>
          <p:nvPr/>
        </p:nvSpPr>
        <p:spPr>
          <a:xfrm>
            <a:off x="12319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(5)  solve_definite_integral(latex_expr)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20" name="직사각형 319"/>
          <p:cNvSpPr/>
          <p:nvPr/>
        </p:nvSpPr>
        <p:spPr>
          <a:xfrm>
            <a:off x="6811920" y="16106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(6)  solve_indefinite_integral(latex_expr)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21" name="직사각형 320"/>
          <p:cNvSpPr/>
          <p:nvPr/>
        </p:nvSpPr>
        <p:spPr>
          <a:xfrm>
            <a:off x="6867000" y="6000120"/>
            <a:ext cx="464544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\int f(x) dx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형태를</a:t>
            </a:r>
            <a:r>
              <a:rPr lang="en-US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부정적분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후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F(X) + C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출력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22" name="그림 321"/>
          <p:cNvPicPr/>
          <p:nvPr/>
        </p:nvPicPr>
        <p:blipFill>
          <a:blip r:embed="rId2"/>
          <a:stretch/>
        </p:blipFill>
        <p:spPr>
          <a:xfrm>
            <a:off x="6868080" y="2145960"/>
            <a:ext cx="4025520" cy="3852360"/>
          </a:xfrm>
          <a:prstGeom prst="rect">
            <a:avLst/>
          </a:prstGeom>
          <a:ln w="0">
            <a:noFill/>
          </a:ln>
        </p:spPr>
      </p:pic>
      <p:sp>
        <p:nvSpPr>
          <p:cNvPr id="323" name="직사각형 322"/>
          <p:cNvSpPr/>
          <p:nvPr/>
        </p:nvSpPr>
        <p:spPr>
          <a:xfrm>
            <a:off x="1260000" y="6000120"/>
            <a:ext cx="449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\int_{a}^{b} f(x) dx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형태를</a:t>
            </a:r>
            <a:r>
              <a:rPr lang="en-US" sz="15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정적분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24" name="그림 323"/>
          <p:cNvPicPr/>
          <p:nvPr/>
        </p:nvPicPr>
        <p:blipFill>
          <a:blip r:embed="rId3"/>
          <a:stretch/>
        </p:blipFill>
        <p:spPr>
          <a:xfrm>
            <a:off x="1260000" y="2145960"/>
            <a:ext cx="4138200" cy="3612240"/>
          </a:xfrm>
          <a:prstGeom prst="rect">
            <a:avLst/>
          </a:prstGeom>
          <a:ln w="0">
            <a:noFill/>
          </a:ln>
        </p:spPr>
      </p:pic>
      <p:pic>
        <p:nvPicPr>
          <p:cNvPr id="325" name="그림 324"/>
          <p:cNvPicPr/>
          <p:nvPr/>
        </p:nvPicPr>
        <p:blipFill>
          <a:blip r:embed="rId4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직사각형 325"/>
          <p:cNvSpPr/>
          <p:nvPr/>
        </p:nvSpPr>
        <p:spPr>
          <a:xfrm>
            <a:off x="6480000" y="1610640"/>
            <a:ext cx="5066280" cy="504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27" name="직사각형 326"/>
          <p:cNvSpPr/>
          <p:nvPr/>
        </p:nvSpPr>
        <p:spPr>
          <a:xfrm>
            <a:off x="1051920" y="1624680"/>
            <a:ext cx="4526280" cy="503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28" name="부제목 19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최종 파싱 함수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29" name="PlaceHolder 18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30" name="직사각형 329"/>
          <p:cNvSpPr/>
          <p:nvPr/>
        </p:nvSpPr>
        <p:spPr>
          <a:xfrm>
            <a:off x="123192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handle_latex3(latex)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31" name="그림 330"/>
          <p:cNvPicPr/>
          <p:nvPr/>
        </p:nvPicPr>
        <p:blipFill>
          <a:blip r:embed="rId2"/>
          <a:stretch/>
        </p:blipFill>
        <p:spPr>
          <a:xfrm>
            <a:off x="1260000" y="2160000"/>
            <a:ext cx="4043520" cy="4403520"/>
          </a:xfrm>
          <a:prstGeom prst="rect">
            <a:avLst/>
          </a:prstGeom>
          <a:ln w="0">
            <a:noFill/>
          </a:ln>
        </p:spPr>
      </p:pic>
      <p:sp>
        <p:nvSpPr>
          <p:cNvPr id="332" name="직사각형 331"/>
          <p:cNvSpPr/>
          <p:nvPr/>
        </p:nvSpPr>
        <p:spPr>
          <a:xfrm>
            <a:off x="6660000" y="1610640"/>
            <a:ext cx="5033520" cy="521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</a:t>
            </a: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[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설명</a:t>
            </a: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]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1)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내 다중 라인 처리 구조 제거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2)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줄을 나누어 수식과 명령어 분리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3)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명령어 줄에서 공백 제거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+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소문자로 통일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4)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줄에서 인식 불가 기호 제거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5)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명령어에 따른 분기 처리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15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(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미분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정적분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부정적분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푸리에 변환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방정식 풀이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15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6) gemma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에게 보낼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prompt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생성 및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ollama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전송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33" name="그림 332"/>
          <p:cNvPicPr/>
          <p:nvPr/>
        </p:nvPicPr>
        <p:blipFill>
          <a:blip r:embed="rId3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표 333"/>
          <p:cNvGraphicFramePr/>
          <p:nvPr/>
        </p:nvGraphicFramePr>
        <p:xfrm>
          <a:off x="540000" y="1620000"/>
          <a:ext cx="11160000" cy="5096880"/>
        </p:xfrm>
        <a:graphic>
          <a:graphicData uri="http://schemas.openxmlformats.org/drawingml/2006/table">
            <a:tbl>
              <a:tblPr/>
              <a:tblGrid>
                <a:gridCol w="196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예시 문제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latin typeface="Noto Sans CJK KR"/>
                          <a:ea typeface="Noto Sans CJK KR"/>
                        </a:rPr>
                        <a:t>      LaTeX </a:t>
                      </a:r>
                      <a:r>
                        <a:rPr lang="ko-KR" sz="1800" b="1" strike="noStrike" spc="-1">
                          <a:latin typeface="Noto Sans CJK KR"/>
                          <a:ea typeface="Noto Sans CJK KR"/>
                        </a:rPr>
                        <a:t>수식 및 </a:t>
                      </a:r>
                      <a:r>
                        <a:rPr lang="en-US" sz="1800" b="1" strike="noStrike" spc="-1">
                          <a:latin typeface="Noto Sans CJK KR"/>
                          <a:ea typeface="Noto Sans CJK KR"/>
                        </a:rPr>
                        <a:t>Text </a:t>
                      </a:r>
                      <a:r>
                        <a:rPr lang="ko-KR" sz="1800" b="1" strike="noStrike" spc="-1">
                          <a:latin typeface="Noto Sans CJK KR"/>
                          <a:ea typeface="Noto Sans CJK KR"/>
                        </a:rPr>
                        <a:t>명령                   </a:t>
                      </a:r>
                      <a:r>
                        <a:rPr lang="en-US" sz="2400" b="1" strike="noStrike" spc="-1">
                          <a:latin typeface="Noto Sans CJK KR"/>
                          <a:ea typeface="Noto Sans CJK KR"/>
                        </a:rPr>
                        <a:t>→         </a:t>
                      </a:r>
                      <a:r>
                        <a:rPr lang="ko-KR" sz="1800" b="1" strike="noStrike" spc="-1">
                          <a:latin typeface="Noto Sans CJK KR"/>
                          <a:ea typeface="Noto Sans CJK KR"/>
                        </a:rPr>
                        <a:t>수식 파싱 및 </a:t>
                      </a:r>
                      <a:r>
                        <a:rPr lang="en-US" sz="1800" b="1" strike="noStrike" spc="-1">
                          <a:latin typeface="Noto Sans CJK KR"/>
                          <a:ea typeface="Noto Sans CJK KR"/>
                        </a:rPr>
                        <a:t>SymPy </a:t>
                      </a:r>
                      <a:r>
                        <a:rPr lang="ko-KR" sz="1800" b="1" strike="noStrike" spc="-1">
                          <a:latin typeface="Noto Sans CJK KR"/>
                          <a:ea typeface="Noto Sans CJK KR"/>
                        </a:rPr>
                        <a:t>연산         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>
                          <a:latin typeface="Noto Sans CJK KR"/>
                        </a:rPr>
                        <a:t>Fourier </a:t>
                      </a:r>
                      <a:r>
                        <a:rPr lang="ko-KR" sz="1800" b="1" strike="noStrike" spc="-1">
                          <a:latin typeface="Noto Sans CJK KR"/>
                        </a:rPr>
                        <a:t>변환 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                     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삼차방정식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                     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삼각함수</a:t>
                      </a:r>
                      <a:endParaRPr lang="en-US" sz="1800" b="0" strike="noStrike" spc="-1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부정적분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                     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지수함수</a:t>
                      </a:r>
                      <a:endParaRPr lang="en-US" sz="1800" b="0" strike="noStrike" spc="-1">
                        <a:latin typeface="Noto Sans CJK KR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800" b="1" strike="noStrike" spc="-1">
                          <a:latin typeface="Noto Sans CJK KR"/>
                        </a:rPr>
                        <a:t>미분</a:t>
                      </a:r>
                      <a:endParaRPr lang="en-US" sz="18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latin typeface="Noto Sans CJK KR"/>
                        </a:rPr>
                        <a:t>                       →                      </a:t>
                      </a:r>
                      <a:endParaRPr lang="en-US" sz="24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5" name="부제목 18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36" name="PlaceHolder 17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337" name="그림 336"/>
          <p:cNvPicPr/>
          <p:nvPr/>
        </p:nvPicPr>
        <p:blipFill>
          <a:blip r:embed="rId2"/>
          <a:srcRect b="55309"/>
          <a:stretch/>
        </p:blipFill>
        <p:spPr>
          <a:xfrm>
            <a:off x="2649240" y="2340000"/>
            <a:ext cx="4008960" cy="898200"/>
          </a:xfrm>
          <a:prstGeom prst="rect">
            <a:avLst/>
          </a:prstGeom>
          <a:ln w="0">
            <a:noFill/>
          </a:ln>
        </p:spPr>
      </p:pic>
      <p:pic>
        <p:nvPicPr>
          <p:cNvPr id="338" name="그림 337"/>
          <p:cNvPicPr/>
          <p:nvPr/>
        </p:nvPicPr>
        <p:blipFill>
          <a:blip r:embed="rId3"/>
          <a:srcRect b="55110"/>
          <a:stretch/>
        </p:blipFill>
        <p:spPr>
          <a:xfrm>
            <a:off x="2660760" y="3484440"/>
            <a:ext cx="3997440" cy="833760"/>
          </a:xfrm>
          <a:prstGeom prst="rect">
            <a:avLst/>
          </a:prstGeom>
          <a:ln w="0">
            <a:noFill/>
          </a:ln>
        </p:spPr>
      </p:pic>
      <p:pic>
        <p:nvPicPr>
          <p:cNvPr id="339" name="그림 338"/>
          <p:cNvPicPr/>
          <p:nvPr/>
        </p:nvPicPr>
        <p:blipFill>
          <a:blip r:embed="rId4"/>
          <a:srcRect r="15917" b="69089"/>
          <a:stretch/>
        </p:blipFill>
        <p:spPr>
          <a:xfrm>
            <a:off x="2700000" y="4613760"/>
            <a:ext cx="3958200" cy="784440"/>
          </a:xfrm>
          <a:prstGeom prst="rect">
            <a:avLst/>
          </a:prstGeom>
          <a:ln w="0">
            <a:noFill/>
          </a:ln>
        </p:spPr>
      </p:pic>
      <p:pic>
        <p:nvPicPr>
          <p:cNvPr id="340" name="그림 339"/>
          <p:cNvPicPr/>
          <p:nvPr/>
        </p:nvPicPr>
        <p:blipFill>
          <a:blip r:embed="rId5"/>
          <a:srcRect b="54465"/>
          <a:stretch/>
        </p:blipFill>
        <p:spPr>
          <a:xfrm>
            <a:off x="2728440" y="5760000"/>
            <a:ext cx="3569760" cy="834480"/>
          </a:xfrm>
          <a:prstGeom prst="rect">
            <a:avLst/>
          </a:prstGeom>
          <a:ln w="0">
            <a:noFill/>
          </a:ln>
        </p:spPr>
      </p:pic>
      <p:pic>
        <p:nvPicPr>
          <p:cNvPr id="341" name="그림 340"/>
          <p:cNvPicPr/>
          <p:nvPr/>
        </p:nvPicPr>
        <p:blipFill>
          <a:blip r:embed="rId6"/>
          <a:srcRect t="56929"/>
          <a:stretch/>
        </p:blipFill>
        <p:spPr>
          <a:xfrm>
            <a:off x="7380000" y="2340000"/>
            <a:ext cx="3958200" cy="898200"/>
          </a:xfrm>
          <a:prstGeom prst="rect">
            <a:avLst/>
          </a:prstGeom>
          <a:ln w="0">
            <a:noFill/>
          </a:ln>
        </p:spPr>
      </p:pic>
      <p:pic>
        <p:nvPicPr>
          <p:cNvPr id="342" name="그림 341"/>
          <p:cNvPicPr/>
          <p:nvPr/>
        </p:nvPicPr>
        <p:blipFill>
          <a:blip r:embed="rId5"/>
          <a:srcRect t="48942"/>
          <a:stretch/>
        </p:blipFill>
        <p:spPr>
          <a:xfrm>
            <a:off x="7408440" y="5722200"/>
            <a:ext cx="3749760" cy="936000"/>
          </a:xfrm>
          <a:prstGeom prst="rect">
            <a:avLst/>
          </a:prstGeom>
          <a:ln w="0">
            <a:noFill/>
          </a:ln>
        </p:spPr>
      </p:pic>
      <p:pic>
        <p:nvPicPr>
          <p:cNvPr id="343" name="그림 342"/>
          <p:cNvPicPr/>
          <p:nvPr/>
        </p:nvPicPr>
        <p:blipFill>
          <a:blip r:embed="rId7"/>
          <a:srcRect t="35391" b="20056"/>
          <a:stretch/>
        </p:blipFill>
        <p:spPr>
          <a:xfrm>
            <a:off x="7380000" y="4555080"/>
            <a:ext cx="3958200" cy="843120"/>
          </a:xfrm>
          <a:prstGeom prst="rect">
            <a:avLst/>
          </a:prstGeom>
          <a:ln w="0">
            <a:noFill/>
          </a:ln>
        </p:spPr>
      </p:pic>
      <p:pic>
        <p:nvPicPr>
          <p:cNvPr id="344" name="그림 343"/>
          <p:cNvPicPr/>
          <p:nvPr/>
        </p:nvPicPr>
        <p:blipFill>
          <a:blip r:embed="rId8"/>
          <a:srcRect t="56035"/>
          <a:stretch/>
        </p:blipFill>
        <p:spPr>
          <a:xfrm>
            <a:off x="7380000" y="3501720"/>
            <a:ext cx="3817440" cy="816480"/>
          </a:xfrm>
          <a:prstGeom prst="rect">
            <a:avLst/>
          </a:prstGeom>
          <a:ln w="0">
            <a:noFill/>
          </a:ln>
        </p:spPr>
      </p:pic>
      <p:pic>
        <p:nvPicPr>
          <p:cNvPr id="345" name="그림 344"/>
          <p:cNvPicPr/>
          <p:nvPr/>
        </p:nvPicPr>
        <p:blipFill>
          <a:blip r:embed="rId9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직사각형 345"/>
          <p:cNvSpPr/>
          <p:nvPr/>
        </p:nvSpPr>
        <p:spPr>
          <a:xfrm>
            <a:off x="6419160" y="1790640"/>
            <a:ext cx="5066280" cy="468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47" name="직사각형 346"/>
          <p:cNvSpPr/>
          <p:nvPr/>
        </p:nvSpPr>
        <p:spPr>
          <a:xfrm>
            <a:off x="839160" y="1804680"/>
            <a:ext cx="506628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48" name="부제목 23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Gemma LLM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프롬프트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+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응답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49" name="PlaceHolder 19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1019160" y="180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create_prompt_for_gemma(expr, cmd, result)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51" name="직사각형 350"/>
          <p:cNvSpPr/>
          <p:nvPr/>
        </p:nvSpPr>
        <p:spPr>
          <a:xfrm>
            <a:off x="6599160" y="17906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ask_gemma_with_ollama(prompt)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52" name="직사각형 351"/>
          <p:cNvSpPr/>
          <p:nvPr/>
        </p:nvSpPr>
        <p:spPr>
          <a:xfrm>
            <a:off x="6654240" y="5644800"/>
            <a:ext cx="553608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ollama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이용하여 생성한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prompt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gemma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 전송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53" name="직사각형 352"/>
          <p:cNvSpPr/>
          <p:nvPr/>
        </p:nvSpPr>
        <p:spPr>
          <a:xfrm>
            <a:off x="1080000" y="5224680"/>
            <a:ext cx="5218200" cy="10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수식과 명령어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계산결과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지침을 포함하여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gemma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보낼 프롬프트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Text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생성합니다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54" name="그림 353"/>
          <p:cNvPicPr/>
          <p:nvPr/>
        </p:nvPicPr>
        <p:blipFill>
          <a:blip r:embed="rId2"/>
          <a:stretch/>
        </p:blipFill>
        <p:spPr>
          <a:xfrm>
            <a:off x="1080000" y="2340000"/>
            <a:ext cx="4664520" cy="2698200"/>
          </a:xfrm>
          <a:prstGeom prst="rect">
            <a:avLst/>
          </a:prstGeom>
          <a:ln w="0">
            <a:noFill/>
          </a:ln>
        </p:spPr>
      </p:pic>
      <p:pic>
        <p:nvPicPr>
          <p:cNvPr id="355" name="그림 354"/>
          <p:cNvPicPr/>
          <p:nvPr/>
        </p:nvPicPr>
        <p:blipFill>
          <a:blip r:embed="rId3"/>
          <a:stretch/>
        </p:blipFill>
        <p:spPr>
          <a:xfrm>
            <a:off x="6627240" y="2356560"/>
            <a:ext cx="4678200" cy="3221640"/>
          </a:xfrm>
          <a:prstGeom prst="rect">
            <a:avLst/>
          </a:prstGeom>
          <a:ln w="0">
            <a:noFill/>
          </a:ln>
        </p:spPr>
      </p:pic>
      <p:pic>
        <p:nvPicPr>
          <p:cNvPr id="356" name="그림 355"/>
          <p:cNvPicPr/>
          <p:nvPr/>
        </p:nvPicPr>
        <p:blipFill>
          <a:blip r:embed="rId4"/>
          <a:stretch/>
        </p:blipFill>
        <p:spPr>
          <a:xfrm>
            <a:off x="593316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직사각형 356"/>
          <p:cNvSpPr/>
          <p:nvPr/>
        </p:nvSpPr>
        <p:spPr>
          <a:xfrm>
            <a:off x="6480000" y="1790640"/>
            <a:ext cx="5066280" cy="468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58" name="직사각형 357"/>
          <p:cNvSpPr/>
          <p:nvPr/>
        </p:nvSpPr>
        <p:spPr>
          <a:xfrm>
            <a:off x="848160" y="1804680"/>
            <a:ext cx="473904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59" name="부제목 24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Gemma LLM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프롬프트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+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응답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60" name="PlaceHolder 20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61" name="직사각형 360"/>
          <p:cNvSpPr/>
          <p:nvPr/>
        </p:nvSpPr>
        <p:spPr>
          <a:xfrm>
            <a:off x="1028160" y="180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LaTeX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및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6660000" y="1790640"/>
            <a:ext cx="52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 Gemma LLM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응답 및 풀이 설명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63" name="그림 362"/>
          <p:cNvPicPr/>
          <p:nvPr/>
        </p:nvPicPr>
        <p:blipFill>
          <a:blip r:embed="rId2"/>
          <a:stretch/>
        </p:blipFill>
        <p:spPr>
          <a:xfrm>
            <a:off x="6720840" y="2520000"/>
            <a:ext cx="4678200" cy="3517560"/>
          </a:xfrm>
          <a:prstGeom prst="rect">
            <a:avLst/>
          </a:prstGeom>
          <a:ln w="0">
            <a:noFill/>
          </a:ln>
        </p:spPr>
      </p:pic>
      <p:pic>
        <p:nvPicPr>
          <p:cNvPr id="364" name="그림 363"/>
          <p:cNvPicPr/>
          <p:nvPr/>
        </p:nvPicPr>
        <p:blipFill>
          <a:blip r:embed="rId3"/>
          <a:stretch/>
        </p:blipFill>
        <p:spPr>
          <a:xfrm>
            <a:off x="1089000" y="3780000"/>
            <a:ext cx="4138200" cy="2518920"/>
          </a:xfrm>
          <a:prstGeom prst="rect">
            <a:avLst/>
          </a:prstGeom>
          <a:ln w="0">
            <a:noFill/>
          </a:ln>
        </p:spPr>
      </p:pic>
      <p:pic>
        <p:nvPicPr>
          <p:cNvPr id="365" name="그림 364"/>
          <p:cNvPicPr/>
          <p:nvPr/>
        </p:nvPicPr>
        <p:blipFill>
          <a:blip r:embed="rId4"/>
          <a:srcRect l="4482" t="16504" r="4205" b="44079"/>
          <a:stretch/>
        </p:blipFill>
        <p:spPr>
          <a:xfrm>
            <a:off x="1089360" y="2340000"/>
            <a:ext cx="4137840" cy="1336680"/>
          </a:xfrm>
          <a:prstGeom prst="rect">
            <a:avLst/>
          </a:prstGeom>
          <a:ln w="0">
            <a:noFill/>
          </a:ln>
        </p:spPr>
      </p:pic>
      <p:sp>
        <p:nvSpPr>
          <p:cNvPr id="366" name="직선 연결선 365"/>
          <p:cNvSpPr/>
          <p:nvPr/>
        </p:nvSpPr>
        <p:spPr>
          <a:xfrm>
            <a:off x="5825880" y="4140000"/>
            <a:ext cx="5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367" name="그림 366"/>
          <p:cNvPicPr/>
          <p:nvPr/>
        </p:nvPicPr>
        <p:blipFill>
          <a:blip r:embed="rId5"/>
          <a:stretch/>
        </p:blipFill>
        <p:spPr>
          <a:xfrm>
            <a:off x="593316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부제목 26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음성 설명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(gTTS + SRE)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69" name="PlaceHolder 21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720000" y="1629360"/>
            <a:ext cx="4825440" cy="504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71" name="직사각형 370"/>
          <p:cNvSpPr/>
          <p:nvPr/>
        </p:nvSpPr>
        <p:spPr>
          <a:xfrm>
            <a:off x="1002600" y="162000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latex_to_speech(latex_str)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72" name="직사각형 371"/>
          <p:cNvSpPr/>
          <p:nvPr/>
        </p:nvSpPr>
        <p:spPr>
          <a:xfrm>
            <a:off x="1047240" y="5769360"/>
            <a:ext cx="4835880" cy="90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speech-rule-engine JAVA script (text_sre.js)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호출하여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수식을 음성용 문장으로 변환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pic>
        <p:nvPicPr>
          <p:cNvPr id="373" name="그림 372"/>
          <p:cNvPicPr/>
          <p:nvPr/>
        </p:nvPicPr>
        <p:blipFill>
          <a:blip r:embed="rId2"/>
          <a:stretch/>
        </p:blipFill>
        <p:spPr>
          <a:xfrm>
            <a:off x="1166040" y="2155320"/>
            <a:ext cx="4019400" cy="3639240"/>
          </a:xfrm>
          <a:prstGeom prst="rect">
            <a:avLst/>
          </a:prstGeom>
          <a:ln w="0">
            <a:noFill/>
          </a:ln>
        </p:spPr>
      </p:pic>
      <p:sp>
        <p:nvSpPr>
          <p:cNvPr id="374" name="직사각형 373"/>
          <p:cNvSpPr/>
          <p:nvPr/>
        </p:nvSpPr>
        <p:spPr>
          <a:xfrm>
            <a:off x="6840000" y="1624680"/>
            <a:ext cx="4498200" cy="251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75" name="직사각형 374"/>
          <p:cNvSpPr/>
          <p:nvPr/>
        </p:nvSpPr>
        <p:spPr>
          <a:xfrm>
            <a:off x="6840000" y="4272840"/>
            <a:ext cx="4498200" cy="23853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76" name="직사각형 375"/>
          <p:cNvSpPr/>
          <p:nvPr/>
        </p:nvSpPr>
        <p:spPr>
          <a:xfrm>
            <a:off x="7020000" y="427716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(3)  process_text(text)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sp>
        <p:nvSpPr>
          <p:cNvPr id="377" name="직사각형 376"/>
          <p:cNvSpPr/>
          <p:nvPr/>
        </p:nvSpPr>
        <p:spPr>
          <a:xfrm>
            <a:off x="7020000" y="6124680"/>
            <a:ext cx="467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$...$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형태로 감싸진 수식을 찾아 음성용으로 변환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78" name="그림 377"/>
          <p:cNvPicPr/>
          <p:nvPr/>
        </p:nvPicPr>
        <p:blipFill>
          <a:blip r:embed="rId3"/>
          <a:stretch/>
        </p:blipFill>
        <p:spPr>
          <a:xfrm>
            <a:off x="7057080" y="4817160"/>
            <a:ext cx="4160880" cy="1305720"/>
          </a:xfrm>
          <a:prstGeom prst="rect">
            <a:avLst/>
          </a:prstGeom>
          <a:ln w="0">
            <a:noFill/>
          </a:ln>
        </p:spPr>
      </p:pic>
      <p:sp>
        <p:nvSpPr>
          <p:cNvPr id="379" name="직사각형 378"/>
          <p:cNvSpPr/>
          <p:nvPr/>
        </p:nvSpPr>
        <p:spPr>
          <a:xfrm>
            <a:off x="7024680" y="162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 text_sre.js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20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입력받은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Mathjax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을 이용하여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MAthML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변환 →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SRE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을 통해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MathML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을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텍스트로 변환하는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JAVA script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500" b="0" strike="noStrike" spc="-1">
              <a:latin typeface="Noto Sans CJK KR"/>
            </a:endParaRPr>
          </a:p>
        </p:txBody>
      </p:sp>
      <p:pic>
        <p:nvPicPr>
          <p:cNvPr id="380" name="그림 379"/>
          <p:cNvPicPr/>
          <p:nvPr/>
        </p:nvPicPr>
        <p:blipFill>
          <a:blip r:embed="rId4"/>
          <a:stretch/>
        </p:blipFill>
        <p:spPr>
          <a:xfrm>
            <a:off x="8610840" y="3203280"/>
            <a:ext cx="1026720" cy="769320"/>
          </a:xfrm>
          <a:prstGeom prst="rect">
            <a:avLst/>
          </a:prstGeom>
          <a:ln w="0">
            <a:noFill/>
          </a:ln>
        </p:spPr>
      </p:pic>
      <p:sp>
        <p:nvSpPr>
          <p:cNvPr id="381" name="자유형 380"/>
          <p:cNvSpPr/>
          <p:nvPr/>
        </p:nvSpPr>
        <p:spPr>
          <a:xfrm>
            <a:off x="5940000" y="2340000"/>
            <a:ext cx="538200" cy="538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144" y="0"/>
                </a:moveTo>
                <a:lnTo>
                  <a:pt x="13456" y="0"/>
                </a:lnTo>
                <a:lnTo>
                  <a:pt x="13456" y="8144"/>
                </a:lnTo>
                <a:lnTo>
                  <a:pt x="21600" y="8144"/>
                </a:lnTo>
                <a:lnTo>
                  <a:pt x="21600" y="13456"/>
                </a:lnTo>
                <a:lnTo>
                  <a:pt x="13456" y="13456"/>
                </a:lnTo>
                <a:lnTo>
                  <a:pt x="13456" y="21600"/>
                </a:lnTo>
                <a:lnTo>
                  <a:pt x="8144" y="21600"/>
                </a:lnTo>
                <a:lnTo>
                  <a:pt x="8144" y="13456"/>
                </a:lnTo>
                <a:lnTo>
                  <a:pt x="0" y="13456"/>
                </a:lnTo>
                <a:lnTo>
                  <a:pt x="0" y="8144"/>
                </a:lnTo>
                <a:lnTo>
                  <a:pt x="8144" y="8144"/>
                </a:lnTo>
                <a:lnTo>
                  <a:pt x="8144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82" name="직사각형 381"/>
          <p:cNvSpPr/>
          <p:nvPr/>
        </p:nvSpPr>
        <p:spPr>
          <a:xfrm>
            <a:off x="7020000" y="2524680"/>
            <a:ext cx="4678200" cy="125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383" name="그림 382"/>
          <p:cNvPicPr/>
          <p:nvPr/>
        </p:nvPicPr>
        <p:blipFill>
          <a:blip r:embed="rId5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직사각형 383"/>
          <p:cNvSpPr/>
          <p:nvPr/>
        </p:nvSpPr>
        <p:spPr>
          <a:xfrm>
            <a:off x="6300000" y="2340000"/>
            <a:ext cx="5038200" cy="431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85" name="부제목 5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음성 설명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(gTTS + SRE)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386" name="PlaceHolder 8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387" name="직사각형 386"/>
          <p:cNvSpPr/>
          <p:nvPr/>
        </p:nvSpPr>
        <p:spPr>
          <a:xfrm>
            <a:off x="900000" y="1620000"/>
            <a:ext cx="4498200" cy="504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88" name="직사각형 387"/>
          <p:cNvSpPr/>
          <p:nvPr/>
        </p:nvSpPr>
        <p:spPr>
          <a:xfrm>
            <a:off x="1068120" y="162000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(4) process_and_tts(raw_text)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89" name="직사각형 388"/>
          <p:cNvSpPr/>
          <p:nvPr/>
        </p:nvSpPr>
        <p:spPr>
          <a:xfrm>
            <a:off x="1068120" y="5769360"/>
            <a:ext cx="4835880" cy="10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전체 텍스트를 변환 후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gTTS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mp3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파일 생성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및 자동 재생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(mpg123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사용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90" name="직선 연결선 389"/>
          <p:cNvSpPr/>
          <p:nvPr/>
        </p:nvSpPr>
        <p:spPr>
          <a:xfrm>
            <a:off x="5636880" y="4149360"/>
            <a:ext cx="5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391" name="그림 390"/>
          <p:cNvPicPr/>
          <p:nvPr/>
        </p:nvPicPr>
        <p:blipFill>
          <a:blip r:embed="rId2"/>
          <a:stretch/>
        </p:blipFill>
        <p:spPr>
          <a:xfrm>
            <a:off x="6480000" y="2880000"/>
            <a:ext cx="4741560" cy="2518200"/>
          </a:xfrm>
          <a:prstGeom prst="rect">
            <a:avLst/>
          </a:prstGeom>
          <a:ln w="0">
            <a:noFill/>
          </a:ln>
        </p:spPr>
      </p:pic>
      <p:sp>
        <p:nvSpPr>
          <p:cNvPr id="392" name="직사각형 391"/>
          <p:cNvSpPr/>
          <p:nvPr/>
        </p:nvSpPr>
        <p:spPr>
          <a:xfrm>
            <a:off x="6480000" y="234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[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풀이 설명 음성 출력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]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393" name="직사각형 392"/>
          <p:cNvSpPr/>
          <p:nvPr/>
        </p:nvSpPr>
        <p:spPr>
          <a:xfrm>
            <a:off x="6480000" y="5760000"/>
            <a:ext cx="5710320" cy="12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Space bar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일시정지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/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재생 가능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394" name="그림 393"/>
          <p:cNvPicPr/>
          <p:nvPr/>
        </p:nvPicPr>
        <p:blipFill>
          <a:blip r:embed="rId3"/>
          <a:stretch/>
        </p:blipFill>
        <p:spPr>
          <a:xfrm>
            <a:off x="9878760" y="5611680"/>
            <a:ext cx="1279440" cy="857160"/>
          </a:xfrm>
          <a:prstGeom prst="rect">
            <a:avLst/>
          </a:prstGeom>
          <a:ln w="0">
            <a:noFill/>
          </a:ln>
        </p:spPr>
      </p:pic>
      <p:pic>
        <p:nvPicPr>
          <p:cNvPr id="395" name="그림 394"/>
          <p:cNvPicPr/>
          <p:nvPr/>
        </p:nvPicPr>
        <p:blipFill>
          <a:blip r:embed="rId4"/>
          <a:stretch/>
        </p:blipFill>
        <p:spPr>
          <a:xfrm>
            <a:off x="5940000" y="360000"/>
            <a:ext cx="5938200" cy="1055160"/>
          </a:xfrm>
          <a:prstGeom prst="rect">
            <a:avLst/>
          </a:prstGeom>
          <a:ln w="0">
            <a:noFill/>
          </a:ln>
        </p:spPr>
      </p:pic>
      <p:pic>
        <p:nvPicPr>
          <p:cNvPr id="396" name="그림 395"/>
          <p:cNvPicPr/>
          <p:nvPr/>
        </p:nvPicPr>
        <p:blipFill>
          <a:blip r:embed="rId5"/>
          <a:stretch/>
        </p:blipFill>
        <p:spPr>
          <a:xfrm>
            <a:off x="1260000" y="2142360"/>
            <a:ext cx="3610440" cy="3656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직사각형 396"/>
          <p:cNvSpPr/>
          <p:nvPr/>
        </p:nvSpPr>
        <p:spPr>
          <a:xfrm>
            <a:off x="6480000" y="1790640"/>
            <a:ext cx="5066280" cy="4687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98" name="직사각형 397"/>
          <p:cNvSpPr/>
          <p:nvPr/>
        </p:nvSpPr>
        <p:spPr>
          <a:xfrm>
            <a:off x="848160" y="1804680"/>
            <a:ext cx="473904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399" name="부제목 4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STT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(Whisper)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00" name="PlaceHolder 7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01" name="직사각형 400"/>
          <p:cNvSpPr/>
          <p:nvPr/>
        </p:nvSpPr>
        <p:spPr>
          <a:xfrm>
            <a:off x="1028160" y="180468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start_recording()  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402" name="직사각형 401"/>
          <p:cNvSpPr/>
          <p:nvPr/>
        </p:nvSpPr>
        <p:spPr>
          <a:xfrm>
            <a:off x="6660000" y="1790640"/>
            <a:ext cx="52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stop_recording()  </a:t>
            </a:r>
            <a:endParaRPr lang="en-US" sz="1500" b="0" strike="noStrike" spc="-1">
              <a:latin typeface="Noto Sans CJK KR"/>
            </a:endParaRPr>
          </a:p>
        </p:txBody>
      </p:sp>
      <p:pic>
        <p:nvPicPr>
          <p:cNvPr id="403" name="그림 402"/>
          <p:cNvPicPr/>
          <p:nvPr/>
        </p:nvPicPr>
        <p:blipFill>
          <a:blip r:embed="rId2"/>
          <a:stretch/>
        </p:blipFill>
        <p:spPr>
          <a:xfrm>
            <a:off x="6480000" y="360000"/>
            <a:ext cx="4188960" cy="1098360"/>
          </a:xfrm>
          <a:prstGeom prst="rect">
            <a:avLst/>
          </a:prstGeom>
          <a:ln w="0">
            <a:noFill/>
          </a:ln>
        </p:spPr>
      </p:pic>
      <p:pic>
        <p:nvPicPr>
          <p:cNvPr id="404" name="그림 403"/>
          <p:cNvPicPr/>
          <p:nvPr/>
        </p:nvPicPr>
        <p:blipFill>
          <a:blip r:embed="rId3"/>
          <a:stretch/>
        </p:blipFill>
        <p:spPr>
          <a:xfrm>
            <a:off x="1028160" y="2372760"/>
            <a:ext cx="4409640" cy="3205800"/>
          </a:xfrm>
          <a:prstGeom prst="rect">
            <a:avLst/>
          </a:prstGeom>
          <a:ln w="0">
            <a:noFill/>
          </a:ln>
        </p:spPr>
      </p:pic>
      <p:pic>
        <p:nvPicPr>
          <p:cNvPr id="405" name="그림 404"/>
          <p:cNvPicPr/>
          <p:nvPr/>
        </p:nvPicPr>
        <p:blipFill>
          <a:blip r:embed="rId4"/>
          <a:stretch/>
        </p:blipFill>
        <p:spPr>
          <a:xfrm>
            <a:off x="6671160" y="2340000"/>
            <a:ext cx="4667400" cy="2878560"/>
          </a:xfrm>
          <a:prstGeom prst="rect">
            <a:avLst/>
          </a:prstGeom>
          <a:ln w="0">
            <a:noFill/>
          </a:ln>
        </p:spPr>
      </p:pic>
      <p:sp>
        <p:nvSpPr>
          <p:cNvPr id="406" name="직사각형 405"/>
          <p:cNvSpPr/>
          <p:nvPr/>
        </p:nvSpPr>
        <p:spPr>
          <a:xfrm>
            <a:off x="1028160" y="5580000"/>
            <a:ext cx="4835880" cy="10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마이크 녹음을 시작하고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48kHz → 16kHz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리샘플링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후 메모리에 저장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(Whisper 16kHz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입력 필요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)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6660000" y="5400000"/>
            <a:ext cx="5218560" cy="10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녹음을 마치고 저장된 오디오 데이터를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.wav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저장 후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  </a:t>
            </a:r>
            <a:endParaRPr lang="en-US" sz="15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whisper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호출</a:t>
            </a:r>
            <a:endParaRPr lang="en-US" sz="15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직사각형 407"/>
          <p:cNvSpPr/>
          <p:nvPr/>
        </p:nvSpPr>
        <p:spPr>
          <a:xfrm>
            <a:off x="6480360" y="2160000"/>
            <a:ext cx="5066280" cy="3598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09" name="직사각형 408"/>
          <p:cNvSpPr/>
          <p:nvPr/>
        </p:nvSpPr>
        <p:spPr>
          <a:xfrm>
            <a:off x="848520" y="2174040"/>
            <a:ext cx="4910400" cy="3584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10" name="부제목 7"/>
          <p:cNvSpPr/>
          <p:nvPr/>
        </p:nvSpPr>
        <p:spPr>
          <a:xfrm>
            <a:off x="900360" y="1080000"/>
            <a:ext cx="4677840" cy="73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STT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(Whisper)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11" name="PlaceHolder 22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3.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핵심 기능 및 기술 구현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12" name="직사각형 411"/>
          <p:cNvSpPr/>
          <p:nvPr/>
        </p:nvSpPr>
        <p:spPr>
          <a:xfrm>
            <a:off x="1028520" y="2174040"/>
            <a:ext cx="467352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transcribe_with_whisper(wav_path, txt_path)  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413" name="직사각형 412"/>
          <p:cNvSpPr/>
          <p:nvPr/>
        </p:nvSpPr>
        <p:spPr>
          <a:xfrm>
            <a:off x="6660360" y="2160000"/>
            <a:ext cx="521820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ask_ollama() 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414" name="직선 연결선 413"/>
          <p:cNvSpPr/>
          <p:nvPr/>
        </p:nvSpPr>
        <p:spPr>
          <a:xfrm>
            <a:off x="5940360" y="4509360"/>
            <a:ext cx="42588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415" name="그림 414"/>
          <p:cNvPicPr/>
          <p:nvPr/>
        </p:nvPicPr>
        <p:blipFill>
          <a:blip r:embed="rId2"/>
          <a:stretch/>
        </p:blipFill>
        <p:spPr>
          <a:xfrm>
            <a:off x="1080360" y="2797920"/>
            <a:ext cx="4498560" cy="2168640"/>
          </a:xfrm>
          <a:prstGeom prst="rect">
            <a:avLst/>
          </a:prstGeom>
          <a:ln w="0">
            <a:noFill/>
          </a:ln>
        </p:spPr>
      </p:pic>
      <p:pic>
        <p:nvPicPr>
          <p:cNvPr id="416" name="그림 415"/>
          <p:cNvPicPr/>
          <p:nvPr/>
        </p:nvPicPr>
        <p:blipFill>
          <a:blip r:embed="rId3"/>
          <a:stretch/>
        </p:blipFill>
        <p:spPr>
          <a:xfrm>
            <a:off x="6685560" y="2875680"/>
            <a:ext cx="4653360" cy="1982880"/>
          </a:xfrm>
          <a:prstGeom prst="rect">
            <a:avLst/>
          </a:prstGeom>
          <a:ln w="0">
            <a:noFill/>
          </a:ln>
        </p:spPr>
      </p:pic>
      <p:pic>
        <p:nvPicPr>
          <p:cNvPr id="417" name="그림 416"/>
          <p:cNvPicPr/>
          <p:nvPr/>
        </p:nvPicPr>
        <p:blipFill>
          <a:blip r:embed="rId4"/>
          <a:stretch/>
        </p:blipFill>
        <p:spPr>
          <a:xfrm>
            <a:off x="6480000" y="360720"/>
            <a:ext cx="4188960" cy="1098360"/>
          </a:xfrm>
          <a:prstGeom prst="rect">
            <a:avLst/>
          </a:prstGeom>
          <a:ln w="0">
            <a:noFill/>
          </a:ln>
        </p:spPr>
      </p:pic>
      <p:sp>
        <p:nvSpPr>
          <p:cNvPr id="418" name="직사각형 417"/>
          <p:cNvSpPr/>
          <p:nvPr/>
        </p:nvSpPr>
        <p:spPr>
          <a:xfrm>
            <a:off x="1028160" y="5040000"/>
            <a:ext cx="4835880" cy="10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Whisper STT 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변환기를 통해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wav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파일을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text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변환</a:t>
            </a:r>
            <a:endParaRPr lang="en-US" sz="1500" b="0" strike="noStrike" spc="-1">
              <a:latin typeface="Noto Sans CJK KR"/>
            </a:endParaRPr>
          </a:p>
        </p:txBody>
      </p:sp>
      <p:sp>
        <p:nvSpPr>
          <p:cNvPr id="419" name="직사각형 418"/>
          <p:cNvSpPr/>
          <p:nvPr/>
        </p:nvSpPr>
        <p:spPr>
          <a:xfrm>
            <a:off x="6660000" y="5040000"/>
            <a:ext cx="5218560" cy="10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 text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ollama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통해 </a:t>
            </a:r>
            <a:r>
              <a:rPr lang="en-US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gemma3 LLM</a:t>
            </a:r>
            <a:r>
              <a:rPr lang="ko-KR" sz="15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으로 전송</a:t>
            </a:r>
            <a:endParaRPr lang="en-US" sz="15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Trebuchet MS"/>
              </a:rPr>
              <a:t>1. </a:t>
            </a:r>
            <a:r>
              <a:rPr lang="ko-KR" sz="2000" b="0" strike="noStrike" spc="-1">
                <a:solidFill>
                  <a:srgbClr val="666666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</a:rPr>
              <a:t>2. 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3.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422" name="PlaceHolder 30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4.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5.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직사각형 426"/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28" name="부제목 20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미분 문제 풀이</a:t>
            </a: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429" name="PlaceHolder 24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4.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데모 시연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487B9E-1629-8E5C-7859-31784C28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722" y="1804680"/>
            <a:ext cx="8284876" cy="4673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직사각형 430"/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32" name="부제목 21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Fourier Transform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풀이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33" name="PlaceHolder 25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4.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데모 시연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84DCAB-D08F-B8EA-E51D-28F45BAEA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833" y="1820474"/>
            <a:ext cx="8234654" cy="46577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직사각형 438"/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40" name="부제목 25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altLang="en-US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적분 문제 풀이</a:t>
            </a: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441" name="PlaceHolder 31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4.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데모 시연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B2C593-B9D0-148C-F5AE-E7CA9489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53" y="1823951"/>
            <a:ext cx="8375414" cy="46992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직사각형 422">
            <a:hlinkClick r:id="rId2" action="ppaction://hlinkfile"/>
          </p:cNvPr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24" name="부제목 12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방정식 문제 풀이</a:t>
            </a:r>
            <a:r>
              <a:rPr lang="en-US" altLang="ko-KR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</a:t>
            </a:r>
            <a:r>
              <a:rPr lang="ko-KR" altLang="en-US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및 음성 질문</a:t>
            </a: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425" name="PlaceHolder 23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4.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데모 시연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544933-74E0-B76C-AFDD-7D81DF395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658" y="1804680"/>
            <a:ext cx="8297004" cy="467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직사각형 434"/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36" name="부제목 22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답안지 제출</a:t>
            </a: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437" name="PlaceHolder 26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4.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데모 시연</a:t>
            </a:r>
            <a:endParaRPr lang="en-US" sz="3600" b="0" strike="noStrike" spc="-1">
              <a:latin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AA8BB9-7DF2-7C7B-02B4-D281E341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988" y="1804680"/>
            <a:ext cx="8290344" cy="467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845280" y="478800"/>
            <a:ext cx="10507680" cy="779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3600" b="1" strike="noStrike" spc="-1">
                <a:solidFill>
                  <a:srgbClr val="000000"/>
                </a:solidFill>
                <a:latin typeface="Trebuchet MS"/>
              </a:rPr>
              <a:t>목차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1260000" y="1260000"/>
            <a:ext cx="3778560" cy="5398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Trebuchet MS"/>
              </a:rPr>
              <a:t>1. </a:t>
            </a:r>
            <a:r>
              <a:rPr lang="ko-KR" sz="2000" b="0" strike="noStrike" spc="-1">
                <a:solidFill>
                  <a:srgbClr val="666666"/>
                </a:solidFill>
                <a:latin typeface="Trebuchet MS"/>
              </a:rPr>
              <a:t>개요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배경 및 목적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Trebuchet M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Trebuchet MS"/>
              </a:rPr>
              <a:t>개발 환경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</a:rPr>
              <a:t>2. 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</a:rPr>
              <a:t>시스템 구성도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전체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Architecture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Workflow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</a:rPr>
              <a:t>주요 기술 스택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3.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핵심 기능 및 기술 구현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이미지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인식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수식 파싱 및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LaTeX, SymPy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처리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gemma LLM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및 통신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(ollama)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TTS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(gTTS + SRE)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음성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SST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변환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(Whisper)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445" name="PlaceHolder 43"/>
          <p:cNvSpPr/>
          <p:nvPr/>
        </p:nvSpPr>
        <p:spPr>
          <a:xfrm>
            <a:off x="5506200" y="1259640"/>
            <a:ext cx="4032360" cy="467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000" lnSpcReduction="10000"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4. </a:t>
            </a:r>
            <a:r>
              <a:rPr lang="ko-KR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데모 시연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삼차 방정식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미분 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Fourier Transform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문제 풀이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답안지 제출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666666"/>
                </a:solidFill>
                <a:latin typeface="Noto Sans CJK KR"/>
                <a:ea typeface="DejaVu Sans"/>
              </a:rPr>
              <a:t>사용자 음성 질문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200000"/>
              </a:lnSpc>
              <a:spcBef>
                <a:spcPts val="1001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5. </a:t>
            </a:r>
            <a:r>
              <a:rPr lang="ko-KR" sz="20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결론</a:t>
            </a:r>
            <a:endParaRPr lang="en-US" sz="2000" b="0" strike="noStrike" spc="-1">
              <a:latin typeface="Noto Sans CJK KR"/>
            </a:endParaRPr>
          </a:p>
          <a:p>
            <a:pPr>
              <a:lnSpc>
                <a:spcPct val="115000"/>
              </a:lnSpc>
              <a:spcBef>
                <a:spcPts val="1001"/>
              </a:spcBef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- Trouble Shooting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향후 개선 및 확장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고찰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직사각형 445"/>
          <p:cNvSpPr/>
          <p:nvPr/>
        </p:nvSpPr>
        <p:spPr>
          <a:xfrm>
            <a:off x="7200000" y="1805040"/>
            <a:ext cx="431856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47" name="직사각형 446"/>
          <p:cNvSpPr/>
          <p:nvPr/>
        </p:nvSpPr>
        <p:spPr>
          <a:xfrm>
            <a:off x="759960" y="1804680"/>
            <a:ext cx="55386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48" name="부제목 31"/>
          <p:cNvSpPr/>
          <p:nvPr/>
        </p:nvSpPr>
        <p:spPr>
          <a:xfrm>
            <a:off x="900720" y="1221120"/>
            <a:ext cx="82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(1)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인식 문제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49" name="PlaceHolder 48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50" name="직사각형 449"/>
          <p:cNvSpPr/>
          <p:nvPr/>
        </p:nvSpPr>
        <p:spPr>
          <a:xfrm>
            <a:off x="900000" y="1804680"/>
            <a:ext cx="1097856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[1] pytesseract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이용하여 수식 이미지를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OCR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인식하려고 하였지만 인식 문제 발생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</a:t>
            </a:r>
            <a:r>
              <a:rPr lang="en-US" sz="16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→ </a:t>
            </a:r>
            <a:r>
              <a:rPr lang="ko-KR" sz="16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이미지 전처리 과정 실험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451" name="그림 450"/>
          <p:cNvPicPr/>
          <p:nvPr/>
        </p:nvPicPr>
        <p:blipFill>
          <a:blip r:embed="rId2"/>
          <a:srcRect l="629"/>
          <a:stretch/>
        </p:blipFill>
        <p:spPr>
          <a:xfrm>
            <a:off x="887760" y="3130560"/>
            <a:ext cx="5218560" cy="3168000"/>
          </a:xfrm>
          <a:prstGeom prst="rect">
            <a:avLst/>
          </a:prstGeom>
          <a:ln w="0">
            <a:noFill/>
          </a:ln>
        </p:spPr>
      </p:pic>
      <p:pic>
        <p:nvPicPr>
          <p:cNvPr id="452" name="그림 451"/>
          <p:cNvPicPr/>
          <p:nvPr/>
        </p:nvPicPr>
        <p:blipFill>
          <a:blip r:embed="rId3"/>
          <a:stretch/>
        </p:blipFill>
        <p:spPr>
          <a:xfrm>
            <a:off x="7380000" y="1980000"/>
            <a:ext cx="3781800" cy="4358160"/>
          </a:xfrm>
          <a:prstGeom prst="rect">
            <a:avLst/>
          </a:prstGeom>
          <a:ln w="0">
            <a:noFill/>
          </a:ln>
        </p:spPr>
      </p:pic>
      <p:sp>
        <p:nvSpPr>
          <p:cNvPr id="453" name="직선 연결선 452"/>
          <p:cNvSpPr/>
          <p:nvPr/>
        </p:nvSpPr>
        <p:spPr>
          <a:xfrm>
            <a:off x="6480000" y="4140000"/>
            <a:ext cx="5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49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55" name="부제목 36"/>
          <p:cNvSpPr/>
          <p:nvPr/>
        </p:nvSpPr>
        <p:spPr>
          <a:xfrm>
            <a:off x="900720" y="1221120"/>
            <a:ext cx="8277840" cy="7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(1)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인식 문제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56" name="직사각형 455"/>
          <p:cNvSpPr/>
          <p:nvPr/>
        </p:nvSpPr>
        <p:spPr>
          <a:xfrm>
            <a:off x="900720" y="1800000"/>
            <a:ext cx="413784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57" name="직사각형 456"/>
          <p:cNvSpPr/>
          <p:nvPr/>
        </p:nvSpPr>
        <p:spPr>
          <a:xfrm>
            <a:off x="6300000" y="1800000"/>
            <a:ext cx="55386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58" name="직사각형 457"/>
          <p:cNvSpPr/>
          <p:nvPr/>
        </p:nvSpPr>
        <p:spPr>
          <a:xfrm>
            <a:off x="6441840" y="1822320"/>
            <a:ext cx="3787560" cy="87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2) OCR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 결과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틀린 수식 인식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459" name="그림 458"/>
          <p:cNvPicPr/>
          <p:nvPr/>
        </p:nvPicPr>
        <p:blipFill>
          <a:blip r:embed="rId2"/>
          <a:stretch/>
        </p:blipFill>
        <p:spPr>
          <a:xfrm>
            <a:off x="1080000" y="1980000"/>
            <a:ext cx="3781800" cy="4358160"/>
          </a:xfrm>
          <a:prstGeom prst="rect">
            <a:avLst/>
          </a:prstGeom>
          <a:ln w="0">
            <a:noFill/>
          </a:ln>
        </p:spPr>
      </p:pic>
      <p:sp>
        <p:nvSpPr>
          <p:cNvPr id="460" name="직선 연결선 459"/>
          <p:cNvSpPr/>
          <p:nvPr/>
        </p:nvSpPr>
        <p:spPr>
          <a:xfrm>
            <a:off x="5400000" y="4140000"/>
            <a:ext cx="5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461" name="그림 460"/>
          <p:cNvPicPr/>
          <p:nvPr/>
        </p:nvPicPr>
        <p:blipFill>
          <a:blip r:embed="rId3"/>
          <a:stretch/>
        </p:blipFill>
        <p:spPr>
          <a:xfrm>
            <a:off x="6471000" y="2340000"/>
            <a:ext cx="5209560" cy="3238560"/>
          </a:xfrm>
          <a:prstGeom prst="rect">
            <a:avLst/>
          </a:prstGeom>
          <a:ln w="0">
            <a:noFill/>
          </a:ln>
        </p:spPr>
      </p:pic>
      <p:sp>
        <p:nvSpPr>
          <p:cNvPr id="462" name="직사각형 461"/>
          <p:cNvSpPr/>
          <p:nvPr/>
        </p:nvSpPr>
        <p:spPr>
          <a:xfrm>
            <a:off x="6441840" y="5760000"/>
            <a:ext cx="5616720" cy="14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결론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: pytesseract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대신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OCR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정확도 높은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Mathpix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이용 </a:t>
            </a:r>
            <a:endParaRPr lang="en-US" sz="16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53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64" name="부제목 37"/>
          <p:cNvSpPr/>
          <p:nvPr/>
        </p:nvSpPr>
        <p:spPr>
          <a:xfrm>
            <a:off x="900720" y="1221120"/>
            <a:ext cx="8277840" cy="7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(1)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 인식 문제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65" name="직사각형 464"/>
          <p:cNvSpPr/>
          <p:nvPr/>
        </p:nvSpPr>
        <p:spPr>
          <a:xfrm>
            <a:off x="759960" y="1804680"/>
            <a:ext cx="53586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66" name="직사각형 465"/>
          <p:cNvSpPr/>
          <p:nvPr/>
        </p:nvSpPr>
        <p:spPr>
          <a:xfrm>
            <a:off x="900000" y="1804680"/>
            <a:ext cx="521856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[2] </a:t>
            </a:r>
            <a:r>
              <a:rPr lang="en-US" sz="16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im2markup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이미지에서 수식을 추출하여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코드로 변환하는 하버드 대학에서 개발한 딥러닝 모델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</p:txBody>
      </p:sp>
      <p:pic>
        <p:nvPicPr>
          <p:cNvPr id="467" name="그림 466"/>
          <p:cNvPicPr/>
          <p:nvPr/>
        </p:nvPicPr>
        <p:blipFill>
          <a:blip r:embed="rId2"/>
          <a:stretch/>
        </p:blipFill>
        <p:spPr>
          <a:xfrm>
            <a:off x="1980000" y="2698920"/>
            <a:ext cx="2698560" cy="3599640"/>
          </a:xfrm>
          <a:prstGeom prst="rect">
            <a:avLst/>
          </a:prstGeom>
          <a:ln w="0">
            <a:noFill/>
          </a:ln>
        </p:spPr>
      </p:pic>
      <p:sp>
        <p:nvSpPr>
          <p:cNvPr id="468" name="직사각형 467"/>
          <p:cNvSpPr/>
          <p:nvPr/>
        </p:nvSpPr>
        <p:spPr>
          <a:xfrm>
            <a:off x="6519960" y="1800000"/>
            <a:ext cx="49986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69" name="직사각형 468"/>
          <p:cNvSpPr/>
          <p:nvPr/>
        </p:nvSpPr>
        <p:spPr>
          <a:xfrm>
            <a:off x="6660000" y="1800000"/>
            <a:ext cx="5218560" cy="29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2)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설명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-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이미지를 인식하기 위해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OpenCV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이용하여 수식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촬영 후 그 이미지를 이용하여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pre-trained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된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model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 넣어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이미지로 변환 시도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- cudnn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등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GPU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가 필요한 부분이 있었는데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CPU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이용하는 방안으로 변경하기 위해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cudnn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과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cunn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의        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부분을 제거하고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CPU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만 사용하는 옵션등을 주려고 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하였으나 불가능 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→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모델 자체가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GPU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환경에서만 가능한 모델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직사각형 469"/>
          <p:cNvSpPr/>
          <p:nvPr/>
        </p:nvSpPr>
        <p:spPr>
          <a:xfrm>
            <a:off x="6660000" y="1800000"/>
            <a:ext cx="539856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71" name="직사각형 470"/>
          <p:cNvSpPr/>
          <p:nvPr/>
        </p:nvSpPr>
        <p:spPr>
          <a:xfrm>
            <a:off x="399960" y="3240000"/>
            <a:ext cx="5538600" cy="3238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72" name="직사각형 471"/>
          <p:cNvSpPr/>
          <p:nvPr/>
        </p:nvSpPr>
        <p:spPr>
          <a:xfrm>
            <a:off x="6660000" y="1800000"/>
            <a:ext cx="5398560" cy="1978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73" name="직사각형 472"/>
          <p:cNvSpPr/>
          <p:nvPr/>
        </p:nvSpPr>
        <p:spPr>
          <a:xfrm>
            <a:off x="399960" y="1805040"/>
            <a:ext cx="5538600" cy="179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74" name="부제목 28"/>
          <p:cNvSpPr/>
          <p:nvPr/>
        </p:nvSpPr>
        <p:spPr>
          <a:xfrm>
            <a:off x="900720" y="1221120"/>
            <a:ext cx="82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(2) LaTeX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변환 문제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75" name="PlaceHolder 45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76" name="직사각형 475"/>
          <p:cNvSpPr/>
          <p:nvPr/>
        </p:nvSpPr>
        <p:spPr>
          <a:xfrm>
            <a:off x="540000" y="1805040"/>
            <a:ext cx="5578560" cy="19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1)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이미지를 인식 후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LaTeX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수식을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python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수식으로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변환할 때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인식되지 않는 부분들에서 오류가 생깁니다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2)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전처리 추가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</p:txBody>
      </p:sp>
      <p:pic>
        <p:nvPicPr>
          <p:cNvPr id="477" name="그림 476"/>
          <p:cNvPicPr/>
          <p:nvPr/>
        </p:nvPicPr>
        <p:blipFill>
          <a:blip r:embed="rId2"/>
          <a:stretch/>
        </p:blipFill>
        <p:spPr>
          <a:xfrm>
            <a:off x="540000" y="2700360"/>
            <a:ext cx="5231160" cy="718200"/>
          </a:xfrm>
          <a:prstGeom prst="rect">
            <a:avLst/>
          </a:prstGeom>
          <a:ln w="0">
            <a:noFill/>
          </a:ln>
        </p:spPr>
      </p:pic>
      <p:pic>
        <p:nvPicPr>
          <p:cNvPr id="478" name="그림 477"/>
          <p:cNvPicPr/>
          <p:nvPr/>
        </p:nvPicPr>
        <p:blipFill>
          <a:blip r:embed="rId3"/>
          <a:srcRect r="29972"/>
          <a:stretch/>
        </p:blipFill>
        <p:spPr>
          <a:xfrm>
            <a:off x="896400" y="4172040"/>
            <a:ext cx="4518000" cy="2198160"/>
          </a:xfrm>
          <a:prstGeom prst="rect">
            <a:avLst/>
          </a:prstGeom>
          <a:ln w="0">
            <a:noFill/>
          </a:ln>
        </p:spPr>
      </p:pic>
      <p:pic>
        <p:nvPicPr>
          <p:cNvPr id="479" name="그림 478"/>
          <p:cNvPicPr/>
          <p:nvPr/>
        </p:nvPicPr>
        <p:blipFill>
          <a:blip r:embed="rId4"/>
          <a:stretch/>
        </p:blipFill>
        <p:spPr>
          <a:xfrm>
            <a:off x="6787080" y="4536720"/>
            <a:ext cx="5218560" cy="1046880"/>
          </a:xfrm>
          <a:prstGeom prst="rect">
            <a:avLst/>
          </a:prstGeom>
          <a:ln w="0">
            <a:noFill/>
          </a:ln>
        </p:spPr>
      </p:pic>
      <p:sp>
        <p:nvSpPr>
          <p:cNvPr id="480" name="직선 연결선 479"/>
          <p:cNvSpPr/>
          <p:nvPr/>
        </p:nvSpPr>
        <p:spPr>
          <a:xfrm>
            <a:off x="6120000" y="4140000"/>
            <a:ext cx="36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81" name="직사각형 480"/>
          <p:cNvSpPr/>
          <p:nvPr/>
        </p:nvSpPr>
        <p:spPr>
          <a:xfrm>
            <a:off x="6739560" y="1805400"/>
            <a:ext cx="5271480" cy="140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함수 설명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→ clean_exponents(expr) : ^a (LaTeX) → **a (python)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→  insert_multiplication(expr) : ax → a*x (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기호 추가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)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482" name="직사각형 481"/>
          <p:cNvSpPr/>
          <p:nvPr/>
        </p:nvSpPr>
        <p:spPr>
          <a:xfrm>
            <a:off x="6787080" y="3965040"/>
            <a:ext cx="5578560" cy="19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4)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해결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  <a:tabLst>
                <a:tab pos="408240" algn="l"/>
              </a:tabLst>
            </a:pPr>
            <a:endParaRPr lang="en-US" sz="16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직사각형 482"/>
          <p:cNvSpPr/>
          <p:nvPr/>
        </p:nvSpPr>
        <p:spPr>
          <a:xfrm>
            <a:off x="6726240" y="2330280"/>
            <a:ext cx="3958560" cy="323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1)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Noto Sans CJK KR"/>
                <a:ea typeface="DejaVu Sans"/>
              </a:rPr>
              <a:t>OnDevice</a:t>
            </a:r>
            <a:r>
              <a:rPr lang="ko-KR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로 사용할 수 있는 </a:t>
            </a: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TTS   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r>
              <a:rPr lang="ko-KR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테스트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    →  </a:t>
            </a:r>
            <a:r>
              <a:rPr lang="en-US" sz="1800" b="1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Coqui TTS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2) </a:t>
            </a:r>
            <a:r>
              <a:rPr lang="ko-KR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인터넷을 사용하더라도 성능이 좋은       </a:t>
            </a: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TTS </a:t>
            </a:r>
            <a:r>
              <a:rPr lang="ko-KR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변환기로 결정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   </a:t>
            </a:r>
            <a:endParaRPr lang="en-US" sz="1800" b="0" strike="noStrike" spc="-1" dirty="0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   → 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Noto Sans CJK KR"/>
                <a:ea typeface="DejaVu Sans"/>
              </a:rPr>
              <a:t>gTTS</a:t>
            </a:r>
            <a:r>
              <a:rPr lang="en-US" sz="1800" b="0" strike="noStrike" spc="-1" dirty="0">
                <a:solidFill>
                  <a:srgbClr val="000000"/>
                </a:solidFill>
                <a:latin typeface="Noto Sans CJK KR"/>
                <a:ea typeface="DejaVu Sans"/>
              </a:rPr>
              <a:t> </a:t>
            </a: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484" name="부제목 29"/>
          <p:cNvSpPr/>
          <p:nvPr/>
        </p:nvSpPr>
        <p:spPr>
          <a:xfrm>
            <a:off x="900720" y="1221120"/>
            <a:ext cx="55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(3)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한국어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TTS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85" name="PlaceHolder 46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86" name="직사각형 485"/>
          <p:cNvSpPr/>
          <p:nvPr/>
        </p:nvSpPr>
        <p:spPr>
          <a:xfrm>
            <a:off x="8100000" y="-1260000"/>
            <a:ext cx="17928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487" name="표 486"/>
          <p:cNvGraphicFramePr/>
          <p:nvPr/>
        </p:nvGraphicFramePr>
        <p:xfrm>
          <a:off x="1347840" y="2326320"/>
          <a:ext cx="4718520" cy="3201840"/>
        </p:xfrm>
        <a:graphic>
          <a:graphicData uri="http://schemas.openxmlformats.org/drawingml/2006/table">
            <a:tbl>
              <a:tblPr/>
              <a:tblGrid>
                <a:gridCol w="14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strike="noStrike" spc="-1">
                          <a:latin typeface="Noto Sans CJK KR"/>
                        </a:rPr>
                        <a:t>TTS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strike="noStrike" spc="-1">
                          <a:latin typeface="Noto Sans CJK KR"/>
                        </a:rPr>
                        <a:t>Device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1" strike="noStrike" spc="-1">
                          <a:latin typeface="Noto Sans CJK KR"/>
                        </a:rPr>
                        <a:t>한국어 품질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RHVoice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OnDevice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latin typeface="Noto Sans CJK KR"/>
                        </a:rPr>
                        <a:t>지원 안 함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Piper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OnDevice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latin typeface="Noto Sans CJK KR"/>
                        </a:rPr>
                        <a:t>지원 안 함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00" b="1" strike="noStrike" spc="-1">
                          <a:latin typeface="Noto Sans CJK KR"/>
                        </a:rPr>
                        <a:t>Coqui TTS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OnDevice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latin typeface="Noto Sans CJK KR"/>
                        </a:rPr>
                        <a:t>품질 안 좋음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CLOVA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Network / </a:t>
                      </a:r>
                      <a:r>
                        <a:rPr lang="ko-KR" sz="1600" b="0" strike="noStrike" spc="-1">
                          <a:latin typeface="Noto Sans CJK KR"/>
                        </a:rPr>
                        <a:t>유료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latin typeface="Noto Sans CJK KR"/>
                        </a:rPr>
                        <a:t>좋음 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00" b="1" strike="noStrike" spc="-1">
                          <a:latin typeface="Noto Sans CJK KR"/>
                        </a:rPr>
                        <a:t>gTTS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strike="noStrike" spc="-1">
                          <a:latin typeface="Noto Sans CJK KR"/>
                        </a:rPr>
                        <a:t>Network / </a:t>
                      </a:r>
                      <a:r>
                        <a:rPr lang="ko-KR" sz="1600" b="0" strike="noStrike" spc="-1">
                          <a:latin typeface="Noto Sans CJK KR"/>
                        </a:rPr>
                        <a:t>무료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latin typeface="Noto Sans CJK KR"/>
                        </a:rPr>
                        <a:t>좋음 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88" name="그림 48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01080" y="4321080"/>
            <a:ext cx="538560" cy="538560"/>
          </a:xfrm>
          <a:prstGeom prst="rect">
            <a:avLst/>
          </a:prstGeom>
          <a:ln w="0">
            <a:noFill/>
          </a:ln>
        </p:spPr>
      </p:pic>
      <p:pic>
        <p:nvPicPr>
          <p:cNvPr id="489" name="그림 488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41080" y="3060000"/>
            <a:ext cx="538560" cy="53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424" fill="hold"/>
                                        <p:tgtEl>
                                          <p:spTgt spid="4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8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8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5126" fill="hold"/>
                                        <p:tgtEl>
                                          <p:spTgt spid="4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9"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9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직사각형 489"/>
          <p:cNvSpPr/>
          <p:nvPr/>
        </p:nvSpPr>
        <p:spPr>
          <a:xfrm>
            <a:off x="1415880" y="1980000"/>
            <a:ext cx="9358560" cy="449856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1)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인식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gTTS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비롯한 일반적인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TTS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는 수식을 제대로 읽지 못하는 문제가 발생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2)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문제 해결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: Speech Rule Engine (SRE) 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Open Source Library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사용하여 수식을 변환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SRE library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는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JAVA script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되어있어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Node.js 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사용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  - python ↔ JS 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간 연결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3)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순서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[1] Python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에서 텍스트를 읽어서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child process 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생성 후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JS file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을 실행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[2] JS file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 수식만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to string 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수행 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[3] 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수식만 변환된 최종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text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gTTS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가 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TTS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변환 </a:t>
            </a:r>
            <a:endParaRPr lang="en-US" sz="1800" b="0" strike="noStrike" spc="-1">
              <a:latin typeface="Noto Sans CJK K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     [4] .mp3 file</a:t>
            </a:r>
            <a:r>
              <a:rPr lang="ko-KR" sz="18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저장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91" name="부제목 32"/>
          <p:cNvSpPr/>
          <p:nvPr/>
        </p:nvSpPr>
        <p:spPr>
          <a:xfrm>
            <a:off x="900720" y="1221120"/>
            <a:ext cx="55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Trouble Shooting   -   (4)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</a:t>
            </a:r>
            <a:r>
              <a:rPr lang="en-US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TTS </a:t>
            </a: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92" name="PlaceHolder 55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93" name="직사각형 492"/>
          <p:cNvSpPr/>
          <p:nvPr/>
        </p:nvSpPr>
        <p:spPr>
          <a:xfrm>
            <a:off x="8100000" y="-1260000"/>
            <a:ext cx="17928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직사각형 493"/>
          <p:cNvSpPr/>
          <p:nvPr/>
        </p:nvSpPr>
        <p:spPr>
          <a:xfrm>
            <a:off x="759960" y="1804680"/>
            <a:ext cx="10670400" cy="467352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95" name="부제목 34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향후 개선 및 확장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496" name="PlaceHolder 51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497" name="직사각형 496"/>
          <p:cNvSpPr/>
          <p:nvPr/>
        </p:nvSpPr>
        <p:spPr>
          <a:xfrm>
            <a:off x="6648480" y="2315880"/>
            <a:ext cx="18000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498" name="그림 497"/>
          <p:cNvPicPr/>
          <p:nvPr/>
        </p:nvPicPr>
        <p:blipFill>
          <a:blip r:embed="rId2"/>
          <a:stretch/>
        </p:blipFill>
        <p:spPr>
          <a:xfrm>
            <a:off x="847080" y="2160000"/>
            <a:ext cx="10492200" cy="395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직사각형 498"/>
          <p:cNvSpPr/>
          <p:nvPr/>
        </p:nvSpPr>
        <p:spPr>
          <a:xfrm>
            <a:off x="720000" y="1801440"/>
            <a:ext cx="10670400" cy="4498200"/>
          </a:xfrm>
          <a:prstGeom prst="rect">
            <a:avLst/>
          </a:prstGeom>
          <a:solidFill>
            <a:srgbClr val="FFFFFF"/>
          </a:solidFill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500" name="부제목 35"/>
          <p:cNvSpPr/>
          <p:nvPr/>
        </p:nvSpPr>
        <p:spPr>
          <a:xfrm>
            <a:off x="900720" y="1221120"/>
            <a:ext cx="467784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DDDDDD"/>
              </a:buClr>
              <a:buSzPct val="80000"/>
              <a:buFont typeface="Wingdings 3" charset="2"/>
              <a:buChar char=""/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고찰</a:t>
            </a:r>
            <a:endParaRPr lang="en-US" sz="1800" b="0" strike="noStrike" spc="-1">
              <a:latin typeface="Noto Sans CJK KR"/>
            </a:endParaRPr>
          </a:p>
        </p:txBody>
      </p:sp>
      <p:sp>
        <p:nvSpPr>
          <p:cNvPr id="501" name="PlaceHolder 52"/>
          <p:cNvSpPr/>
          <p:nvPr/>
        </p:nvSpPr>
        <p:spPr>
          <a:xfrm>
            <a:off x="404640" y="360000"/>
            <a:ext cx="858888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5. </a:t>
            </a:r>
            <a:r>
              <a:rPr lang="ko-KR" sz="3600" b="1" strike="noStrike" spc="-1">
                <a:solidFill>
                  <a:srgbClr val="000000"/>
                </a:solidFill>
                <a:latin typeface="Trebuchet MS"/>
                <a:ea typeface="DejaVu Sans"/>
              </a:rPr>
              <a:t>결론</a:t>
            </a:r>
            <a:endParaRPr lang="en-US" sz="3600" b="0" strike="noStrike" spc="-1">
              <a:latin typeface="Noto Sans CJK KR"/>
            </a:endParaRPr>
          </a:p>
        </p:txBody>
      </p:sp>
      <p:sp>
        <p:nvSpPr>
          <p:cNvPr id="502" name="직사각형 501"/>
          <p:cNvSpPr/>
          <p:nvPr/>
        </p:nvSpPr>
        <p:spPr>
          <a:xfrm>
            <a:off x="900000" y="1747440"/>
            <a:ext cx="10369440" cy="47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(1)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이번 프로젝트의 핵심은 다양한 기술 요소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(OCR,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파싱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계산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음성 인식 등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)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하나로 통합하는 것이었다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수학이라는 언어를 다양한 기술로 연결하는 과정은 쉽지 않았으며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 인식부터 음성 출력까지 전 단계를 통합하는 과정에서 여러 시행착오와 기술적 도전이 있었다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(2)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수식의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LaTeX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표현을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SymPy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연산에 적합하게 변환하기 위해 다양한 전처리 함수들을 설계하고 테스트하며 수학적 구조에 대한 이해와 프로그래밍적 사고를 함께 요구 받는 경험을 할 수 있었다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(3) TTS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변환에서는 정확한 음성 출력을 위해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SRE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를 도입하여 수식을 자연어로 변환하고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이를 다시 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TTS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로 읽도록 하는 복합적인 처리 과정을 구현하여 다른 기종 언어 간 연동 문제도 해결하는 경험을 할 수 있었다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(4)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이번 프로젝트를 통해 다양한 기술을 통합하고 문제를 해결하는 과정을 경험함으로써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, </a:t>
            </a:r>
            <a:r>
              <a:rPr lang="ko-KR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단순한 기능 구현을 넘어 사용자 중심의 도구를 설계하는 데 필요한 시야와 역량을 키울 수 있었다</a:t>
            </a:r>
            <a:r>
              <a:rPr lang="en-US" sz="1600" b="0" strike="noStrike" spc="-1">
                <a:solidFill>
                  <a:srgbClr val="000000"/>
                </a:solidFill>
                <a:latin typeface="Noto Sans CJK KR"/>
                <a:ea typeface="DejaVu Sans"/>
              </a:rPr>
              <a:t>.</a:t>
            </a:r>
            <a:endParaRPr lang="en-US" sz="1600" b="0" strike="noStrike" spc="-1">
              <a:latin typeface="Noto Sans CJK KR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Noto Sans CJK K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ubTitle"/>
          </p:nvPr>
        </p:nvSpPr>
        <p:spPr>
          <a:xfrm>
            <a:off x="2125800" y="2700000"/>
            <a:ext cx="79387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ko-KR" sz="1800" b="1" strike="noStrike" spc="-1">
                <a:solidFill>
                  <a:srgbClr val="000000"/>
                </a:solidFill>
                <a:latin typeface="Noto Sans CJK KR"/>
              </a:rPr>
              <a:t>감사합니다</a:t>
            </a:r>
            <a:r>
              <a:rPr lang="en-US" sz="1800" b="0" strike="noStrike" spc="-1">
                <a:solidFill>
                  <a:srgbClr val="000000"/>
                </a:solidFill>
                <a:latin typeface="Noto Sans CJK KR"/>
              </a:rPr>
              <a:t>.</a:t>
            </a:r>
            <a:endParaRPr lang="en-US" sz="18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Noto Sans CJK KR"/>
              </a:rPr>
              <a:t> </a:t>
            </a:r>
            <a:endParaRPr lang="en-US" sz="1800" b="0" strike="noStrike" spc="-1">
              <a:latin typeface="Noto Sans CJK KR"/>
            </a:endParaRPr>
          </a:p>
        </p:txBody>
      </p:sp>
      <p:pic>
        <p:nvPicPr>
          <p:cNvPr id="504" name="Picture 3" descr="서울기술교육센터"/>
          <p:cNvPicPr/>
          <p:nvPr/>
        </p:nvPicPr>
        <p:blipFill>
          <a:blip r:embed="rId2"/>
          <a:stretch/>
        </p:blipFill>
        <p:spPr>
          <a:xfrm>
            <a:off x="9615600" y="5969880"/>
            <a:ext cx="2097000" cy="468360"/>
          </a:xfrm>
          <a:prstGeom prst="rect">
            <a:avLst/>
          </a:prstGeom>
          <a:ln w="0">
            <a:noFill/>
          </a:ln>
          <a:effectLst>
            <a:reflection stA="20000" endPos="65000" dist="508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2636</TotalTime>
  <Words>2542</Words>
  <Application>Microsoft Office PowerPoint</Application>
  <PresentationFormat>와이드스크린</PresentationFormat>
  <Paragraphs>485</Paragraphs>
  <Slides>43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43</vt:i4>
      </vt:variant>
    </vt:vector>
  </HeadingPairs>
  <TitlesOfParts>
    <vt:vector size="53" baseType="lpstr">
      <vt:lpstr>Noto Sans CJK KR</vt:lpstr>
      <vt:lpstr>Noto Serif CJK KR</vt:lpstr>
      <vt:lpstr>Arial</vt:lpstr>
      <vt:lpstr>Symbol</vt:lpstr>
      <vt:lpstr>Trebuchet MS</vt:lpstr>
      <vt:lpstr>Wingdings</vt:lpstr>
      <vt:lpstr>Wingdings 3</vt:lpstr>
      <vt:lpstr>Office Theme</vt:lpstr>
      <vt:lpstr>Office Theme</vt:lpstr>
      <vt:lpstr>Office Theme</vt:lpstr>
      <vt:lpstr>AI Math Tutor 개발 Project</vt:lpstr>
      <vt:lpstr>목차</vt:lpstr>
      <vt:lpstr>목차</vt:lpstr>
      <vt:lpstr>PowerPoint 프레젠테이션</vt:lpstr>
      <vt:lpstr>PowerPoint 프레젠테이션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기반 디지털 시계 및 UART 설계</dc:title>
  <dc:subject/>
  <dc:creator>kccistc</dc:creator>
  <dc:description/>
  <cp:lastModifiedBy>종민 윤</cp:lastModifiedBy>
  <cp:revision>104</cp:revision>
  <dcterms:created xsi:type="dcterms:W3CDTF">2025-05-23T00:22:29Z</dcterms:created>
  <dcterms:modified xsi:type="dcterms:W3CDTF">2025-09-27T15:19:45Z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와이드스크린</vt:lpwstr>
  </property>
  <property fmtid="{D5CDD505-2E9C-101B-9397-08002B2CF9AE}" pid="4" name="Slides">
    <vt:i4>16</vt:i4>
  </property>
</Properties>
</file>